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ora" charset="1" panose="00000500000000000000"/>
      <p:regular r:id="rId16"/>
    </p:embeddedFont>
    <p:embeddedFont>
      <p:font typeface="Source Sans 3" charset="1" panose="020B0303030403020204"/>
      <p:regular r:id="rId17"/>
    </p:embeddedFont>
    <p:embeddedFont>
      <p:font typeface="Lora Bold" charset="1" panose="00000800000000000000"/>
      <p:regular r:id="rId18"/>
    </p:embeddedFont>
    <p:embeddedFont>
      <p:font typeface="Source Sans 3 Bold" charset="1" panose="020B0303030403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grpSp>
        <p:nvGrpSpPr>
          <p:cNvPr name="Group 6" id="6"/>
          <p:cNvGrpSpPr/>
          <p:nvPr/>
        </p:nvGrpSpPr>
        <p:grpSpPr>
          <a:xfrm rot="0">
            <a:off x="0" y="0"/>
            <a:ext cx="18301840" cy="10295039"/>
            <a:chOff x="0" y="0"/>
            <a:chExt cx="24402453" cy="13726719"/>
          </a:xfrm>
        </p:grpSpPr>
        <p:sp>
          <p:nvSpPr>
            <p:cNvPr name="Freeform 7" id="7"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2"/>
              <a:stretch>
                <a:fillRect l="-1" t="0" r="-1" b="0"/>
              </a:stretch>
            </a:blipFill>
          </p:spPr>
        </p:sp>
      </p:grpSp>
      <p:grpSp>
        <p:nvGrpSpPr>
          <p:cNvPr name="Group 8" id="8"/>
          <p:cNvGrpSpPr/>
          <p:nvPr/>
        </p:nvGrpSpPr>
        <p:grpSpPr>
          <a:xfrm rot="0">
            <a:off x="0" y="0"/>
            <a:ext cx="18301840" cy="10295039"/>
            <a:chOff x="0" y="0"/>
            <a:chExt cx="24402453" cy="13726719"/>
          </a:xfrm>
        </p:grpSpPr>
        <p:sp>
          <p:nvSpPr>
            <p:cNvPr name="Freeform 9" id="9"/>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alpha val="63922"/>
              </a:srgbClr>
            </a:solidFill>
          </p:spPr>
        </p:sp>
      </p:grpSp>
      <p:sp>
        <p:nvSpPr>
          <p:cNvPr name="TextBox 10" id="10"/>
          <p:cNvSpPr txBox="true"/>
          <p:nvPr/>
        </p:nvSpPr>
        <p:spPr>
          <a:xfrm rot="0">
            <a:off x="1080859" y="847058"/>
            <a:ext cx="16140112" cy="899017"/>
          </a:xfrm>
          <a:prstGeom prst="rect">
            <a:avLst/>
          </a:prstGeom>
        </p:spPr>
        <p:txBody>
          <a:bodyPr anchor="t" rtlCol="false" tIns="0" lIns="0" bIns="0" rIns="0">
            <a:spAutoFit/>
          </a:bodyPr>
          <a:lstStyle/>
          <a:p>
            <a:pPr algn="l">
              <a:lnSpc>
                <a:spcPts val="6838"/>
              </a:lnSpc>
            </a:pPr>
            <a:r>
              <a:rPr lang="en-US" sz="5479">
                <a:solidFill>
                  <a:srgbClr val="F98AC7"/>
                </a:solidFill>
                <a:latin typeface="Lora"/>
                <a:ea typeface="Lora"/>
                <a:cs typeface="Lora"/>
                <a:sym typeface="Lora"/>
              </a:rPr>
              <a:t>Certificate of Excellence</a:t>
            </a:r>
          </a:p>
        </p:txBody>
      </p:sp>
      <p:sp>
        <p:nvSpPr>
          <p:cNvPr name="TextBox 11" id="11"/>
          <p:cNvSpPr txBox="true"/>
          <p:nvPr/>
        </p:nvSpPr>
        <p:spPr>
          <a:xfrm rot="0">
            <a:off x="1080859" y="2095119"/>
            <a:ext cx="17055208" cy="556984"/>
          </a:xfrm>
          <a:prstGeom prst="rect">
            <a:avLst/>
          </a:prstGeom>
        </p:spPr>
        <p:txBody>
          <a:bodyPr anchor="t" rtlCol="false" tIns="0" lIns="0" bIns="0" rIns="0">
            <a:spAutoFit/>
          </a:bodyPr>
          <a:lstStyle/>
          <a:p>
            <a:pPr algn="l">
              <a:lnSpc>
                <a:spcPts val="3657"/>
              </a:lnSpc>
            </a:pPr>
            <a:r>
              <a:rPr lang="en-US" sz="2326">
                <a:solidFill>
                  <a:srgbClr val="D6E5EF"/>
                </a:solidFill>
                <a:latin typeface="Source Sans 3"/>
                <a:ea typeface="Source Sans 3"/>
                <a:cs typeface="Source Sans 3"/>
                <a:sym typeface="Source Sans 3"/>
              </a:rPr>
              <a:t>This Certificate is presented to</a:t>
            </a:r>
          </a:p>
        </p:txBody>
      </p:sp>
      <p:sp>
        <p:nvSpPr>
          <p:cNvPr name="TextBox 12" id="12"/>
          <p:cNvSpPr txBox="true"/>
          <p:nvPr/>
        </p:nvSpPr>
        <p:spPr>
          <a:xfrm rot="0">
            <a:off x="1080859" y="3067822"/>
            <a:ext cx="16140112" cy="722967"/>
          </a:xfrm>
          <a:prstGeom prst="rect">
            <a:avLst/>
          </a:prstGeom>
        </p:spPr>
        <p:txBody>
          <a:bodyPr anchor="t" rtlCol="false" tIns="0" lIns="0" bIns="0" rIns="0">
            <a:spAutoFit/>
          </a:bodyPr>
          <a:lstStyle/>
          <a:p>
            <a:pPr algn="l">
              <a:lnSpc>
                <a:spcPts val="5526"/>
              </a:lnSpc>
            </a:pPr>
            <a:r>
              <a:rPr lang="en-US" sz="4428" b="true">
                <a:solidFill>
                  <a:srgbClr val="F98AC7"/>
                </a:solidFill>
                <a:latin typeface="Lora Bold"/>
                <a:ea typeface="Lora Bold"/>
                <a:cs typeface="Lora Bold"/>
                <a:sym typeface="Lora Bold"/>
              </a:rPr>
              <a:t>SHIVESH SHARMA</a:t>
            </a:r>
          </a:p>
        </p:txBody>
      </p:sp>
      <p:sp>
        <p:nvSpPr>
          <p:cNvPr name="TextBox 13" id="13"/>
          <p:cNvSpPr txBox="true"/>
          <p:nvPr/>
        </p:nvSpPr>
        <p:spPr>
          <a:xfrm rot="0">
            <a:off x="1080859" y="4139832"/>
            <a:ext cx="16140112" cy="1354284"/>
          </a:xfrm>
          <a:prstGeom prst="rect">
            <a:avLst/>
          </a:prstGeom>
        </p:spPr>
        <p:txBody>
          <a:bodyPr anchor="t" rtlCol="false" tIns="0" lIns="0" bIns="0" rIns="0">
            <a:spAutoFit/>
          </a:bodyPr>
          <a:lstStyle/>
          <a:p>
            <a:pPr algn="l">
              <a:lnSpc>
                <a:spcPts val="3657"/>
              </a:lnSpc>
            </a:pPr>
            <a:r>
              <a:rPr lang="en-US" sz="2326">
                <a:solidFill>
                  <a:srgbClr val="D6E5EF"/>
                </a:solidFill>
                <a:latin typeface="Source Sans 3"/>
                <a:ea typeface="Source Sans 3"/>
                <a:cs typeface="Source Sans 3"/>
                <a:sym typeface="Source Sans 3"/>
              </a:rPr>
              <a:t>For successfully completing internship from</a:t>
            </a:r>
          </a:p>
          <a:p>
            <a:pPr algn="l">
              <a:lnSpc>
                <a:spcPts val="3657"/>
              </a:lnSpc>
            </a:pPr>
            <a:r>
              <a:rPr lang="en-US" sz="2326" b="true">
                <a:solidFill>
                  <a:srgbClr val="D6E5EF"/>
                </a:solidFill>
                <a:latin typeface="Source Sans 3 Bold"/>
                <a:ea typeface="Source Sans 3 Bold"/>
                <a:cs typeface="Source Sans 3 Bold"/>
                <a:sym typeface="Source Sans 3 Bold"/>
              </a:rPr>
              <a:t>JUNE 4, 2026 to JULY 5, 2026</a:t>
            </a:r>
            <a:r>
              <a:rPr lang="en-US" sz="2326">
                <a:solidFill>
                  <a:srgbClr val="D6E5EF"/>
                </a:solidFill>
                <a:latin typeface="Source Sans 3"/>
                <a:ea typeface="Source Sans 3"/>
                <a:cs typeface="Source Sans 3"/>
                <a:sym typeface="Source Sans 3"/>
              </a:rPr>
              <a:t> as</a:t>
            </a:r>
          </a:p>
        </p:txBody>
      </p:sp>
      <p:sp>
        <p:nvSpPr>
          <p:cNvPr name="TextBox 14" id="14"/>
          <p:cNvSpPr txBox="true"/>
          <p:nvPr/>
        </p:nvSpPr>
        <p:spPr>
          <a:xfrm rot="0">
            <a:off x="1080859" y="5919359"/>
            <a:ext cx="16140112" cy="537534"/>
          </a:xfrm>
          <a:prstGeom prst="rect">
            <a:avLst/>
          </a:prstGeom>
        </p:spPr>
        <p:txBody>
          <a:bodyPr anchor="t" rtlCol="false" tIns="0" lIns="0" bIns="0" rIns="0">
            <a:spAutoFit/>
          </a:bodyPr>
          <a:lstStyle/>
          <a:p>
            <a:pPr algn="l">
              <a:lnSpc>
                <a:spcPts val="4121"/>
              </a:lnSpc>
            </a:pPr>
            <a:r>
              <a:rPr lang="en-US" sz="3302" b="true">
                <a:solidFill>
                  <a:srgbClr val="F98AC7"/>
                </a:solidFill>
                <a:latin typeface="Lora Bold"/>
                <a:ea typeface="Lora Bold"/>
                <a:cs typeface="Lora Bold"/>
                <a:sym typeface="Lora Bold"/>
              </a:rPr>
              <a:t>Research Intern</a:t>
            </a:r>
          </a:p>
        </p:txBody>
      </p:sp>
      <p:sp>
        <p:nvSpPr>
          <p:cNvPr name="TextBox 15" id="15"/>
          <p:cNvSpPr txBox="true"/>
          <p:nvPr/>
        </p:nvSpPr>
        <p:spPr>
          <a:xfrm rot="0">
            <a:off x="1080859" y="6805936"/>
            <a:ext cx="16140112" cy="2622842"/>
          </a:xfrm>
          <a:prstGeom prst="rect">
            <a:avLst/>
          </a:prstGeom>
        </p:spPr>
        <p:txBody>
          <a:bodyPr anchor="t" rtlCol="false" tIns="0" lIns="0" bIns="0" rIns="0">
            <a:spAutoFit/>
          </a:bodyPr>
          <a:lstStyle/>
          <a:p>
            <a:pPr algn="l">
              <a:lnSpc>
                <a:spcPts val="3657"/>
              </a:lnSpc>
            </a:pPr>
            <a:r>
              <a:rPr lang="en-US" sz="2326">
                <a:solidFill>
                  <a:srgbClr val="D6E5EF"/>
                </a:solidFill>
                <a:latin typeface="Source Sans 3"/>
                <a:ea typeface="Source Sans 3"/>
                <a:cs typeface="Source Sans 3"/>
                <a:sym typeface="Source Sans 3"/>
              </a:rPr>
              <a:t>at our project </a:t>
            </a:r>
            <a:r>
              <a:rPr lang="en-US" sz="2326" b="true">
                <a:solidFill>
                  <a:srgbClr val="D6E5EF"/>
                </a:solidFill>
                <a:latin typeface="Source Sans 3 Bold"/>
                <a:ea typeface="Source Sans 3 Bold"/>
                <a:cs typeface="Source Sans 3 Bold"/>
                <a:sym typeface="Source Sans 3 Bold"/>
              </a:rPr>
              <a:t>Under Shri Ram Darbar Trust, Muzaffarnagar</a:t>
            </a:r>
          </a:p>
          <a:p>
            <a:pPr algn="l">
              <a:lnSpc>
                <a:spcPts val="3657"/>
              </a:lnSpc>
            </a:pPr>
            <a:r>
              <a:rPr lang="en-US" sz="2326">
                <a:solidFill>
                  <a:srgbClr val="D6E5EF"/>
                </a:solidFill>
                <a:latin typeface="Source Sans 3"/>
                <a:ea typeface="Source Sans 3"/>
                <a:cs typeface="Source Sans 3"/>
                <a:sym typeface="Source Sans 3"/>
              </a:rPr>
              <a:t>Neeraj Sharma</a:t>
            </a:r>
          </a:p>
          <a:p>
            <a:pPr algn="l">
              <a:lnSpc>
                <a:spcPts val="3657"/>
              </a:lnSpc>
            </a:pPr>
            <a:r>
              <a:rPr lang="en-US" sz="2326">
                <a:solidFill>
                  <a:srgbClr val="D6E5EF"/>
                </a:solidFill>
                <a:latin typeface="Source Sans 3"/>
                <a:ea typeface="Source Sans 3"/>
                <a:cs typeface="Source Sans 3"/>
                <a:sym typeface="Source Sans 3"/>
              </a:rPr>
              <a:t>Secretary</a:t>
            </a:r>
          </a:p>
          <a:p>
            <a:pPr algn="l">
              <a:lnSpc>
                <a:spcPts val="3657"/>
              </a:lnSpc>
            </a:pPr>
            <a:r>
              <a:rPr lang="en-US" sz="2326" b="true">
                <a:solidFill>
                  <a:srgbClr val="D6E5EF"/>
                </a:solidFill>
                <a:latin typeface="Source Sans 3 Bold"/>
                <a:ea typeface="Source Sans 3 Bold"/>
                <a:cs typeface="Source Sans 3 Bold"/>
                <a:sym typeface="Source Sans 3 Bold"/>
              </a:rPr>
              <a:t>Shri Ram Darbar Trust, Muzaffarnagar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830228"/>
            <a:ext cx="16140112" cy="473326"/>
          </a:xfrm>
          <a:prstGeom prst="rect">
            <a:avLst/>
          </a:prstGeom>
        </p:spPr>
        <p:txBody>
          <a:bodyPr anchor="t" rtlCol="false" tIns="0" lIns="0" bIns="0" rIns="0">
            <a:spAutoFit/>
          </a:bodyPr>
          <a:lstStyle/>
          <a:p>
            <a:pPr algn="l">
              <a:lnSpc>
                <a:spcPts val="3559"/>
              </a:lnSpc>
            </a:pPr>
            <a:r>
              <a:rPr lang="en-US" sz="2852">
                <a:solidFill>
                  <a:srgbClr val="F98AC7"/>
                </a:solidFill>
                <a:latin typeface="Lora"/>
                <a:ea typeface="Lora"/>
                <a:cs typeface="Lora"/>
                <a:sym typeface="Lora"/>
              </a:rPr>
              <a:t>Shri Ram Darbar Trust, Muzaffarnagar</a:t>
            </a:r>
          </a:p>
        </p:txBody>
      </p:sp>
      <p:sp>
        <p:nvSpPr>
          <p:cNvPr name="TextBox 7" id="7"/>
          <p:cNvSpPr txBox="true"/>
          <p:nvPr/>
        </p:nvSpPr>
        <p:spPr>
          <a:xfrm rot="0">
            <a:off x="1080859" y="1457868"/>
            <a:ext cx="16140112" cy="642699"/>
          </a:xfrm>
          <a:prstGeom prst="rect">
            <a:avLst/>
          </a:prstGeom>
        </p:spPr>
        <p:txBody>
          <a:bodyPr anchor="t" rtlCol="false" tIns="0" lIns="0" bIns="0" rIns="0">
            <a:spAutoFit/>
          </a:bodyPr>
          <a:lstStyle/>
          <a:p>
            <a:pPr algn="l">
              <a:lnSpc>
                <a:spcPts val="1441"/>
              </a:lnSpc>
            </a:pPr>
            <a:r>
              <a:rPr lang="en-US" sz="1200">
                <a:solidFill>
                  <a:srgbClr val="D6E5EF"/>
                </a:solidFill>
                <a:latin typeface="Source Sans 3"/>
                <a:ea typeface="Source Sans 3"/>
                <a:cs typeface="Source Sans 3"/>
                <a:sym typeface="Source Sans 3"/>
              </a:rPr>
              <a:t>June 4 - July 5, 2026</a:t>
            </a:r>
          </a:p>
          <a:p>
            <a:pPr algn="l">
              <a:lnSpc>
                <a:spcPts val="1441"/>
              </a:lnSpc>
            </a:pPr>
            <a:r>
              <a:rPr lang="en-US" sz="1200">
                <a:solidFill>
                  <a:srgbClr val="D6E5EF"/>
                </a:solidFill>
                <a:latin typeface="Source Sans 3"/>
                <a:ea typeface="Source Sans 3"/>
                <a:cs typeface="Source Sans 3"/>
                <a:sym typeface="Source Sans 3"/>
              </a:rPr>
              <a:t>Shri Ram Darbar Trust is a non-governmental organization based in Muzaffarnagar, Uttar Pradesh, dedicated to serving the underprivileged and vulnerable members of society. The Trust operates with a mission to provide essential support — including food, clothing, and blankets — to those in need, while also extending care to animals through its dedicated programs and dairy farm.</a:t>
            </a:r>
          </a:p>
        </p:txBody>
      </p:sp>
      <p:grpSp>
        <p:nvGrpSpPr>
          <p:cNvPr name="Group 8" id="8"/>
          <p:cNvGrpSpPr/>
          <p:nvPr/>
        </p:nvGrpSpPr>
        <p:grpSpPr>
          <a:xfrm rot="0">
            <a:off x="1080859" y="2187397"/>
            <a:ext cx="16140112" cy="9038549"/>
            <a:chOff x="0" y="0"/>
            <a:chExt cx="21520150" cy="12051398"/>
          </a:xfrm>
        </p:grpSpPr>
        <p:sp>
          <p:nvSpPr>
            <p:cNvPr name="Freeform 9" id="9" descr="preencoded.png"/>
            <p:cNvSpPr/>
            <p:nvPr/>
          </p:nvSpPr>
          <p:spPr>
            <a:xfrm flipH="false" flipV="false" rot="0">
              <a:off x="0" y="0"/>
              <a:ext cx="21520150" cy="12051411"/>
            </a:xfrm>
            <a:custGeom>
              <a:avLst/>
              <a:gdLst/>
              <a:ahLst/>
              <a:cxnLst/>
              <a:rect r="r" b="b" t="t" l="l"/>
              <a:pathLst>
                <a:path h="12051411" w="21520150">
                  <a:moveTo>
                    <a:pt x="0" y="0"/>
                  </a:moveTo>
                  <a:lnTo>
                    <a:pt x="21520150" y="0"/>
                  </a:lnTo>
                  <a:lnTo>
                    <a:pt x="21520150" y="12051411"/>
                  </a:lnTo>
                  <a:lnTo>
                    <a:pt x="0" y="12051411"/>
                  </a:lnTo>
                  <a:lnTo>
                    <a:pt x="0" y="0"/>
                  </a:lnTo>
                  <a:close/>
                </a:path>
              </a:pathLst>
            </a:custGeom>
            <a:blipFill>
              <a:blip r:embed="rId2"/>
              <a:stretch>
                <a:fillRect l="0" t="-18" r="0" b="-18"/>
              </a:stretch>
            </a:blipFill>
          </p:spPr>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3367507"/>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Providing Clothes &amp; Blankets</a:t>
            </a:r>
          </a:p>
        </p:txBody>
      </p:sp>
      <p:sp>
        <p:nvSpPr>
          <p:cNvPr name="TextBox 7" id="7"/>
          <p:cNvSpPr txBox="true"/>
          <p:nvPr/>
        </p:nvSpPr>
        <p:spPr>
          <a:xfrm rot="0">
            <a:off x="1080859" y="4826765"/>
            <a:ext cx="16140112"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One of the core initiatives of Shri Ram Darbar Trust is the distribution of clothes and blankets to people in need. The Trust collects and distributes warm clothing and blankets, especially during the winter months, to ensure that no one in the community is left without protection from the cold. This program reaches out to the most vulnerable — including the elderly, children, and families living in poverty — providing them with dignity and comfort through essential clothing support.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2025072"/>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Food Distribution Program</a:t>
            </a:r>
          </a:p>
        </p:txBody>
      </p:sp>
      <p:grpSp>
        <p:nvGrpSpPr>
          <p:cNvPr name="Group 7" id="7"/>
          <p:cNvGrpSpPr/>
          <p:nvPr/>
        </p:nvGrpSpPr>
        <p:grpSpPr>
          <a:xfrm rot="0">
            <a:off x="858498" y="3425123"/>
            <a:ext cx="8138122" cy="3480540"/>
            <a:chOff x="0" y="0"/>
            <a:chExt cx="10850829" cy="4640720"/>
          </a:xfrm>
        </p:grpSpPr>
        <p:sp>
          <p:nvSpPr>
            <p:cNvPr name="Freeform 8" id="8"/>
            <p:cNvSpPr/>
            <p:nvPr/>
          </p:nvSpPr>
          <p:spPr>
            <a:xfrm flipH="false" flipV="false" rot="0">
              <a:off x="0" y="0"/>
              <a:ext cx="10850753" cy="4640707"/>
            </a:xfrm>
            <a:custGeom>
              <a:avLst/>
              <a:gdLst/>
              <a:ahLst/>
              <a:cxnLst/>
              <a:rect r="r" b="b" t="t" l="l"/>
              <a:pathLst>
                <a:path h="4640707" w="10850753">
                  <a:moveTo>
                    <a:pt x="0" y="61722"/>
                  </a:moveTo>
                  <a:cubicBezTo>
                    <a:pt x="0" y="27686"/>
                    <a:pt x="27686" y="0"/>
                    <a:pt x="61722" y="0"/>
                  </a:cubicBezTo>
                  <a:lnTo>
                    <a:pt x="10789031" y="0"/>
                  </a:lnTo>
                  <a:cubicBezTo>
                    <a:pt x="10823194" y="0"/>
                    <a:pt x="10850753" y="27686"/>
                    <a:pt x="10850753" y="61722"/>
                  </a:cubicBezTo>
                  <a:lnTo>
                    <a:pt x="10850753" y="4578985"/>
                  </a:lnTo>
                  <a:cubicBezTo>
                    <a:pt x="10850753" y="4613148"/>
                    <a:pt x="10823067" y="4640707"/>
                    <a:pt x="10789031" y="4640707"/>
                  </a:cubicBezTo>
                  <a:lnTo>
                    <a:pt x="61722" y="4640707"/>
                  </a:lnTo>
                  <a:cubicBezTo>
                    <a:pt x="27559" y="4640707"/>
                    <a:pt x="0" y="4613021"/>
                    <a:pt x="0" y="4578985"/>
                  </a:cubicBezTo>
                  <a:close/>
                </a:path>
              </a:pathLst>
            </a:custGeom>
            <a:solidFill>
              <a:srgbClr val="F98AC7"/>
            </a:solidFill>
          </p:spPr>
        </p:sp>
      </p:grpSp>
      <p:sp>
        <p:nvSpPr>
          <p:cNvPr name="TextBox 9" id="9"/>
          <p:cNvSpPr txBox="true"/>
          <p:nvPr/>
        </p:nvSpPr>
        <p:spPr>
          <a:xfrm rot="0">
            <a:off x="1167251" y="3714836"/>
            <a:ext cx="7520616" cy="473326"/>
          </a:xfrm>
          <a:prstGeom prst="rect">
            <a:avLst/>
          </a:prstGeom>
        </p:spPr>
        <p:txBody>
          <a:bodyPr anchor="t" rtlCol="false" tIns="0" lIns="0" bIns="0" rIns="0">
            <a:spAutoFit/>
          </a:bodyPr>
          <a:lstStyle/>
          <a:p>
            <a:pPr algn="l">
              <a:lnSpc>
                <a:spcPts val="3559"/>
              </a:lnSpc>
            </a:pPr>
            <a:r>
              <a:rPr lang="en-US" sz="2852">
                <a:solidFill>
                  <a:srgbClr val="000000"/>
                </a:solidFill>
                <a:latin typeface="Lora"/>
                <a:ea typeface="Lora"/>
                <a:cs typeface="Lora"/>
                <a:sym typeface="Lora"/>
              </a:rPr>
              <a:t>Our Mission</a:t>
            </a:r>
          </a:p>
        </p:txBody>
      </p:sp>
      <p:sp>
        <p:nvSpPr>
          <p:cNvPr name="TextBox 10" id="10"/>
          <p:cNvSpPr txBox="true"/>
          <p:nvPr/>
        </p:nvSpPr>
        <p:spPr>
          <a:xfrm rot="0">
            <a:off x="1167251" y="4401683"/>
            <a:ext cx="7520616" cy="2072040"/>
          </a:xfrm>
          <a:prstGeom prst="rect">
            <a:avLst/>
          </a:prstGeom>
        </p:spPr>
        <p:txBody>
          <a:bodyPr anchor="t" rtlCol="false" tIns="0" lIns="0" bIns="0" rIns="0">
            <a:spAutoFit/>
          </a:bodyPr>
          <a:lstStyle/>
          <a:p>
            <a:pPr algn="l">
              <a:lnSpc>
                <a:spcPts val="3833"/>
              </a:lnSpc>
            </a:pPr>
            <a:r>
              <a:rPr lang="en-US" sz="2401">
                <a:solidFill>
                  <a:srgbClr val="000000"/>
                </a:solidFill>
                <a:latin typeface="Source Sans 3"/>
                <a:ea typeface="Source Sans 3"/>
                <a:cs typeface="Source Sans 3"/>
                <a:sym typeface="Source Sans 3"/>
              </a:rPr>
              <a:t>Ensuring that no one in our community goes to bed hungry. The Trust regularly organizes food distribution drives to provide nutritious meals to those who need them most.</a:t>
            </a:r>
          </a:p>
        </p:txBody>
      </p:sp>
      <p:sp>
        <p:nvSpPr>
          <p:cNvPr name="TextBox 11" id="11"/>
          <p:cNvSpPr txBox="true"/>
          <p:nvPr/>
        </p:nvSpPr>
        <p:spPr>
          <a:xfrm rot="0">
            <a:off x="9537125" y="3714836"/>
            <a:ext cx="7693390" cy="473326"/>
          </a:xfrm>
          <a:prstGeom prst="rect">
            <a:avLst/>
          </a:prstGeom>
        </p:spPr>
        <p:txBody>
          <a:bodyPr anchor="t" rtlCol="false" tIns="0" lIns="0" bIns="0" rIns="0">
            <a:spAutoFit/>
          </a:bodyPr>
          <a:lstStyle/>
          <a:p>
            <a:pPr algn="l">
              <a:lnSpc>
                <a:spcPts val="3559"/>
              </a:lnSpc>
            </a:pPr>
            <a:r>
              <a:rPr lang="en-US" sz="2852">
                <a:solidFill>
                  <a:srgbClr val="F98AC7"/>
                </a:solidFill>
                <a:latin typeface="Lora"/>
                <a:ea typeface="Lora"/>
                <a:cs typeface="Lora"/>
                <a:sym typeface="Lora"/>
              </a:rPr>
              <a:t>Who We Serve</a:t>
            </a:r>
          </a:p>
        </p:txBody>
      </p:sp>
      <p:sp>
        <p:nvSpPr>
          <p:cNvPr name="TextBox 12" id="12"/>
          <p:cNvSpPr txBox="true"/>
          <p:nvPr/>
        </p:nvSpPr>
        <p:spPr>
          <a:xfrm rot="0">
            <a:off x="9537125" y="4483979"/>
            <a:ext cx="7693390" cy="2313699"/>
          </a:xfrm>
          <a:prstGeom prst="rect">
            <a:avLst/>
          </a:prstGeom>
        </p:spPr>
        <p:txBody>
          <a:bodyPr anchor="t" rtlCol="false" tIns="0" lIns="0" bIns="0" rIns="0">
            <a:spAutoFit/>
          </a:bodyPr>
          <a:lstStyle/>
          <a:p>
            <a:pPr algn="l" marL="435018" indent="-217509" lvl="1">
              <a:lnSpc>
                <a:spcPts val="3833"/>
              </a:lnSpc>
              <a:buFont typeface="Arial"/>
              <a:buChar char="•"/>
            </a:pPr>
            <a:r>
              <a:rPr lang="en-US" sz="2401">
                <a:solidFill>
                  <a:srgbClr val="D6E5EF"/>
                </a:solidFill>
                <a:latin typeface="Source Sans 3"/>
                <a:ea typeface="Source Sans 3"/>
                <a:cs typeface="Source Sans 3"/>
                <a:sym typeface="Source Sans 3"/>
              </a:rPr>
              <a:t>Low-income families</a:t>
            </a:r>
          </a:p>
          <a:p>
            <a:pPr algn="l" marL="435018" indent="-217509" lvl="1">
              <a:lnSpc>
                <a:spcPts val="3833"/>
              </a:lnSpc>
              <a:buFont typeface="Arial"/>
              <a:buChar char="•"/>
            </a:pPr>
            <a:r>
              <a:rPr lang="en-US" sz="2401">
                <a:solidFill>
                  <a:srgbClr val="D6E5EF"/>
                </a:solidFill>
                <a:latin typeface="Source Sans 3"/>
                <a:ea typeface="Source Sans 3"/>
                <a:cs typeface="Source Sans 3"/>
                <a:sym typeface="Source Sans 3"/>
              </a:rPr>
              <a:t>Elderly individuals without support</a:t>
            </a:r>
          </a:p>
          <a:p>
            <a:pPr algn="l" marL="435018" indent="-217509" lvl="1">
              <a:lnSpc>
                <a:spcPts val="3833"/>
              </a:lnSpc>
              <a:buFont typeface="Arial"/>
              <a:buChar char="•"/>
            </a:pPr>
            <a:r>
              <a:rPr lang="en-US" sz="2401">
                <a:solidFill>
                  <a:srgbClr val="D6E5EF"/>
                </a:solidFill>
                <a:latin typeface="Source Sans 3"/>
                <a:ea typeface="Source Sans 3"/>
                <a:cs typeface="Source Sans 3"/>
                <a:sym typeface="Source Sans 3"/>
              </a:rPr>
              <a:t>Children from underprivileged backgrounds</a:t>
            </a:r>
          </a:p>
          <a:p>
            <a:pPr algn="l" marL="435018" indent="-217509" lvl="1">
              <a:lnSpc>
                <a:spcPts val="3833"/>
              </a:lnSpc>
              <a:buFont typeface="Arial"/>
              <a:buChar char="•"/>
            </a:pPr>
            <a:r>
              <a:rPr lang="en-US" sz="2401">
                <a:solidFill>
                  <a:srgbClr val="D6E5EF"/>
                </a:solidFill>
                <a:latin typeface="Source Sans 3"/>
                <a:ea typeface="Source Sans 3"/>
                <a:cs typeface="Source Sans 3"/>
                <a:sym typeface="Source Sans 3"/>
              </a:rPr>
              <a:t>Homeless and displaced persons</a:t>
            </a:r>
          </a:p>
        </p:txBody>
      </p:sp>
      <p:sp>
        <p:nvSpPr>
          <p:cNvPr name="TextBox 13" id="13"/>
          <p:cNvSpPr txBox="true"/>
          <p:nvPr/>
        </p:nvSpPr>
        <p:spPr>
          <a:xfrm rot="0">
            <a:off x="1080859" y="7157752"/>
            <a:ext cx="16140112" cy="108365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Through its food distribution program, Shri Ram Darbar Trust works to address hunger and malnutrition in the Muzaffarnagar region, providing regular meals and food supplies to those who struggle to meet their daily nutritional needs.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2699642"/>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Animal Care &amp; Dairy Farm</a:t>
            </a:r>
          </a:p>
        </p:txBody>
      </p:sp>
      <p:sp>
        <p:nvSpPr>
          <p:cNvPr name="TextBox 7" id="7"/>
          <p:cNvSpPr txBox="true"/>
          <p:nvPr/>
        </p:nvSpPr>
        <p:spPr>
          <a:xfrm rot="0">
            <a:off x="1080859" y="4158901"/>
            <a:ext cx="16140112" cy="3407778"/>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Shri Ram Darbar Trust also extends its compassion beyond human welfare to include the care of animals. The Trust operates a dairy farm that serves a dual purpose — it supports the Trust's food distribution efforts by providing fresh milk and dairy products, and it offers a safe, nurturing environment for the animals in its care.</a:t>
            </a:r>
          </a:p>
          <a:p>
            <a:pPr algn="l">
              <a:lnSpc>
                <a:spcPts val="3833"/>
              </a:lnSpc>
            </a:pPr>
            <a:r>
              <a:rPr lang="en-US" sz="2401">
                <a:solidFill>
                  <a:srgbClr val="D6E5EF"/>
                </a:solidFill>
                <a:latin typeface="Source Sans 3"/>
                <a:ea typeface="Source Sans 3"/>
                <a:cs typeface="Source Sans 3"/>
                <a:sym typeface="Source Sans 3"/>
              </a:rPr>
              <a:t>The dairy farm is managed with care and attention, ensuring that the animals are healthy, well-fed, and treated with kindness. This initiative reflects the Trust's holistic approach to community welfare, recognizing that the well-being of animals is closely tied to the well-being of the people who depend on them.</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2032968"/>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Research Internship Overview</a:t>
            </a:r>
          </a:p>
        </p:txBody>
      </p:sp>
      <p:sp>
        <p:nvSpPr>
          <p:cNvPr name="TextBox 7" id="7"/>
          <p:cNvSpPr txBox="true"/>
          <p:nvPr/>
        </p:nvSpPr>
        <p:spPr>
          <a:xfrm rot="0">
            <a:off x="1080859" y="3492227"/>
            <a:ext cx="16140112"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During the internship period from </a:t>
            </a:r>
            <a:r>
              <a:rPr lang="en-US" sz="2401" b="true">
                <a:solidFill>
                  <a:srgbClr val="D6E5EF"/>
                </a:solidFill>
                <a:latin typeface="Source Sans 3 Bold"/>
                <a:ea typeface="Source Sans 3 Bold"/>
                <a:cs typeface="Source Sans 3 Bold"/>
                <a:sym typeface="Source Sans 3 Bold"/>
              </a:rPr>
              <a:t>June 4, 2026 to July 5, 2026</a:t>
            </a:r>
            <a:r>
              <a:rPr lang="en-US" sz="2401">
                <a:solidFill>
                  <a:srgbClr val="D6E5EF"/>
                </a:solidFill>
                <a:latin typeface="Source Sans 3"/>
                <a:ea typeface="Source Sans 3"/>
                <a:cs typeface="Source Sans 3"/>
                <a:sym typeface="Source Sans 3"/>
              </a:rPr>
              <a:t>, the role of Research Intern at Shri Ram Darbar Trust involved observing, documenting, and understanding the various programs and operations of the Trust. As a researcher, the intern engaged with the Trust's activities by telling them and seeing all the stuff — gaining firsthand experience of how a grassroots NGO functions on a day-to-day basis.</a:t>
            </a:r>
          </a:p>
        </p:txBody>
      </p:sp>
      <p:grpSp>
        <p:nvGrpSpPr>
          <p:cNvPr name="Group 8" id="8"/>
          <p:cNvGrpSpPr/>
          <p:nvPr/>
        </p:nvGrpSpPr>
        <p:grpSpPr>
          <a:xfrm rot="0">
            <a:off x="1061799" y="5892546"/>
            <a:ext cx="5212328" cy="2359876"/>
            <a:chOff x="0" y="0"/>
            <a:chExt cx="6949770" cy="3146501"/>
          </a:xfrm>
        </p:grpSpPr>
        <p:sp>
          <p:nvSpPr>
            <p:cNvPr name="Freeform 9" id="9"/>
            <p:cNvSpPr/>
            <p:nvPr/>
          </p:nvSpPr>
          <p:spPr>
            <a:xfrm flipH="false" flipV="false" rot="0">
              <a:off x="0" y="0"/>
              <a:ext cx="6949694" cy="3146425"/>
            </a:xfrm>
            <a:custGeom>
              <a:avLst/>
              <a:gdLst/>
              <a:ahLst/>
              <a:cxnLst/>
              <a:rect r="r" b="b" t="t" l="l"/>
              <a:pathLst>
                <a:path h="3146425" w="6949694">
                  <a:moveTo>
                    <a:pt x="0" y="62738"/>
                  </a:moveTo>
                  <a:cubicBezTo>
                    <a:pt x="0" y="28067"/>
                    <a:pt x="28067" y="0"/>
                    <a:pt x="62738" y="0"/>
                  </a:cubicBezTo>
                  <a:lnTo>
                    <a:pt x="6886956" y="0"/>
                  </a:lnTo>
                  <a:cubicBezTo>
                    <a:pt x="6921627" y="0"/>
                    <a:pt x="6949694" y="28067"/>
                    <a:pt x="6949694" y="62738"/>
                  </a:cubicBezTo>
                  <a:lnTo>
                    <a:pt x="6949694" y="3083687"/>
                  </a:lnTo>
                  <a:cubicBezTo>
                    <a:pt x="6949694" y="3118358"/>
                    <a:pt x="6921627" y="3146425"/>
                    <a:pt x="6886956" y="3146425"/>
                  </a:cubicBezTo>
                  <a:lnTo>
                    <a:pt x="62738" y="3146425"/>
                  </a:lnTo>
                  <a:cubicBezTo>
                    <a:pt x="28067" y="3146425"/>
                    <a:pt x="0" y="3118358"/>
                    <a:pt x="0" y="3083687"/>
                  </a:cubicBezTo>
                  <a:close/>
                </a:path>
              </a:pathLst>
            </a:custGeom>
            <a:solidFill>
              <a:srgbClr val="252833"/>
            </a:solidFill>
            <a:ln w="38128" cap="sq">
              <a:solidFill>
                <a:srgbClr val="5D606B"/>
              </a:solidFill>
              <a:prstDash val="solid"/>
              <a:miter/>
            </a:ln>
          </p:spPr>
        </p:sp>
      </p:grpSp>
      <p:sp>
        <p:nvSpPr>
          <p:cNvPr name="TextBox 10" id="10"/>
          <p:cNvSpPr txBox="true"/>
          <p:nvPr/>
        </p:nvSpPr>
        <p:spPr>
          <a:xfrm rot="0">
            <a:off x="1427750" y="6239446"/>
            <a:ext cx="4480436"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Duration</a:t>
            </a:r>
          </a:p>
        </p:txBody>
      </p:sp>
      <p:sp>
        <p:nvSpPr>
          <p:cNvPr name="TextBox 11" id="11"/>
          <p:cNvSpPr txBox="true"/>
          <p:nvPr/>
        </p:nvSpPr>
        <p:spPr>
          <a:xfrm rot="0">
            <a:off x="1427750" y="6802812"/>
            <a:ext cx="4480436" cy="589445"/>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June 4, 2026 – July 5, 2026</a:t>
            </a:r>
          </a:p>
        </p:txBody>
      </p:sp>
      <p:grpSp>
        <p:nvGrpSpPr>
          <p:cNvPr name="Group 12" id="12"/>
          <p:cNvGrpSpPr/>
          <p:nvPr/>
        </p:nvGrpSpPr>
        <p:grpSpPr>
          <a:xfrm rot="0">
            <a:off x="6544751" y="5892546"/>
            <a:ext cx="5212328" cy="2359876"/>
            <a:chOff x="0" y="0"/>
            <a:chExt cx="6949770" cy="3146501"/>
          </a:xfrm>
        </p:grpSpPr>
        <p:sp>
          <p:nvSpPr>
            <p:cNvPr name="Freeform 13" id="13"/>
            <p:cNvSpPr/>
            <p:nvPr/>
          </p:nvSpPr>
          <p:spPr>
            <a:xfrm flipH="false" flipV="false" rot="0">
              <a:off x="0" y="0"/>
              <a:ext cx="6949694" cy="3146425"/>
            </a:xfrm>
            <a:custGeom>
              <a:avLst/>
              <a:gdLst/>
              <a:ahLst/>
              <a:cxnLst/>
              <a:rect r="r" b="b" t="t" l="l"/>
              <a:pathLst>
                <a:path h="3146425" w="6949694">
                  <a:moveTo>
                    <a:pt x="0" y="62738"/>
                  </a:moveTo>
                  <a:cubicBezTo>
                    <a:pt x="0" y="28067"/>
                    <a:pt x="28067" y="0"/>
                    <a:pt x="62738" y="0"/>
                  </a:cubicBezTo>
                  <a:lnTo>
                    <a:pt x="6886956" y="0"/>
                  </a:lnTo>
                  <a:cubicBezTo>
                    <a:pt x="6921627" y="0"/>
                    <a:pt x="6949694" y="28067"/>
                    <a:pt x="6949694" y="62738"/>
                  </a:cubicBezTo>
                  <a:lnTo>
                    <a:pt x="6949694" y="3083687"/>
                  </a:lnTo>
                  <a:cubicBezTo>
                    <a:pt x="6949694" y="3118358"/>
                    <a:pt x="6921627" y="3146425"/>
                    <a:pt x="6886956" y="3146425"/>
                  </a:cubicBezTo>
                  <a:lnTo>
                    <a:pt x="62738" y="3146425"/>
                  </a:lnTo>
                  <a:cubicBezTo>
                    <a:pt x="28067" y="3146425"/>
                    <a:pt x="0" y="3118358"/>
                    <a:pt x="0" y="3083687"/>
                  </a:cubicBezTo>
                  <a:close/>
                </a:path>
              </a:pathLst>
            </a:custGeom>
            <a:solidFill>
              <a:srgbClr val="252833"/>
            </a:solidFill>
            <a:ln w="38128" cap="sq">
              <a:solidFill>
                <a:srgbClr val="5D606B"/>
              </a:solidFill>
              <a:prstDash val="solid"/>
              <a:miter/>
            </a:ln>
          </p:spPr>
        </p:sp>
      </p:grpSp>
      <p:sp>
        <p:nvSpPr>
          <p:cNvPr name="TextBox 14" id="14"/>
          <p:cNvSpPr txBox="true"/>
          <p:nvPr/>
        </p:nvSpPr>
        <p:spPr>
          <a:xfrm rot="0">
            <a:off x="6910702" y="6239446"/>
            <a:ext cx="4480436"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Role</a:t>
            </a:r>
          </a:p>
        </p:txBody>
      </p:sp>
      <p:sp>
        <p:nvSpPr>
          <p:cNvPr name="TextBox 15" id="15"/>
          <p:cNvSpPr txBox="true"/>
          <p:nvPr/>
        </p:nvSpPr>
        <p:spPr>
          <a:xfrm rot="0">
            <a:off x="6910702" y="6802812"/>
            <a:ext cx="4480436" cy="589445"/>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Research Intern</a:t>
            </a:r>
          </a:p>
        </p:txBody>
      </p:sp>
      <p:grpSp>
        <p:nvGrpSpPr>
          <p:cNvPr name="Group 16" id="16"/>
          <p:cNvGrpSpPr/>
          <p:nvPr/>
        </p:nvGrpSpPr>
        <p:grpSpPr>
          <a:xfrm rot="0">
            <a:off x="12027713" y="5892546"/>
            <a:ext cx="5212328" cy="2359876"/>
            <a:chOff x="0" y="0"/>
            <a:chExt cx="6949770" cy="3146501"/>
          </a:xfrm>
        </p:grpSpPr>
        <p:sp>
          <p:nvSpPr>
            <p:cNvPr name="Freeform 17" id="17"/>
            <p:cNvSpPr/>
            <p:nvPr/>
          </p:nvSpPr>
          <p:spPr>
            <a:xfrm flipH="false" flipV="false" rot="0">
              <a:off x="0" y="0"/>
              <a:ext cx="6949694" cy="3146425"/>
            </a:xfrm>
            <a:custGeom>
              <a:avLst/>
              <a:gdLst/>
              <a:ahLst/>
              <a:cxnLst/>
              <a:rect r="r" b="b" t="t" l="l"/>
              <a:pathLst>
                <a:path h="3146425" w="6949694">
                  <a:moveTo>
                    <a:pt x="0" y="62738"/>
                  </a:moveTo>
                  <a:cubicBezTo>
                    <a:pt x="0" y="28067"/>
                    <a:pt x="28067" y="0"/>
                    <a:pt x="62738" y="0"/>
                  </a:cubicBezTo>
                  <a:lnTo>
                    <a:pt x="6886956" y="0"/>
                  </a:lnTo>
                  <a:cubicBezTo>
                    <a:pt x="6921627" y="0"/>
                    <a:pt x="6949694" y="28067"/>
                    <a:pt x="6949694" y="62738"/>
                  </a:cubicBezTo>
                  <a:lnTo>
                    <a:pt x="6949694" y="3083687"/>
                  </a:lnTo>
                  <a:cubicBezTo>
                    <a:pt x="6949694" y="3118358"/>
                    <a:pt x="6921627" y="3146425"/>
                    <a:pt x="6886956" y="3146425"/>
                  </a:cubicBezTo>
                  <a:lnTo>
                    <a:pt x="62738" y="3146425"/>
                  </a:lnTo>
                  <a:cubicBezTo>
                    <a:pt x="28067" y="3146425"/>
                    <a:pt x="0" y="3118358"/>
                    <a:pt x="0" y="3083687"/>
                  </a:cubicBezTo>
                  <a:close/>
                </a:path>
              </a:pathLst>
            </a:custGeom>
            <a:solidFill>
              <a:srgbClr val="252833"/>
            </a:solidFill>
            <a:ln w="38128" cap="sq">
              <a:solidFill>
                <a:srgbClr val="5D606B"/>
              </a:solidFill>
              <a:prstDash val="solid"/>
              <a:miter/>
            </a:ln>
          </p:spPr>
        </p:sp>
      </p:grpSp>
      <p:sp>
        <p:nvSpPr>
          <p:cNvPr name="TextBox 18" id="18"/>
          <p:cNvSpPr txBox="true"/>
          <p:nvPr/>
        </p:nvSpPr>
        <p:spPr>
          <a:xfrm rot="0">
            <a:off x="12393663" y="6239446"/>
            <a:ext cx="4480436"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Organization</a:t>
            </a:r>
          </a:p>
        </p:txBody>
      </p:sp>
      <p:sp>
        <p:nvSpPr>
          <p:cNvPr name="TextBox 19" id="19"/>
          <p:cNvSpPr txBox="true"/>
          <p:nvPr/>
        </p:nvSpPr>
        <p:spPr>
          <a:xfrm rot="0">
            <a:off x="12393663" y="6802812"/>
            <a:ext cx="4480436" cy="108365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Shri Ram Darbar Trust, Muzaffarnagar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1905619"/>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Research Activities &amp; Observations</a:t>
            </a:r>
          </a:p>
        </p:txBody>
      </p:sp>
      <p:sp>
        <p:nvSpPr>
          <p:cNvPr name="TextBox 7" id="7"/>
          <p:cNvSpPr txBox="true"/>
          <p:nvPr/>
        </p:nvSpPr>
        <p:spPr>
          <a:xfrm rot="0">
            <a:off x="1080859" y="3364878"/>
            <a:ext cx="16140112" cy="1577845"/>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As a Research Intern, the work involved closely observing and documenting the Trust's operations across its various programs. This included visiting the dairy farm, witnessing food and clothing distribution drives, and understanding how the Trust manages its resources and volunteers to serve the community effectively.</a:t>
            </a:r>
          </a:p>
        </p:txBody>
      </p:sp>
      <p:sp>
        <p:nvSpPr>
          <p:cNvPr name="Freeform 8" id="8" descr="preencoded.png"/>
          <p:cNvSpPr/>
          <p:nvPr/>
        </p:nvSpPr>
        <p:spPr>
          <a:xfrm flipH="false" flipV="false" rot="0">
            <a:off x="1196588" y="5299672"/>
            <a:ext cx="463210" cy="463220"/>
          </a:xfrm>
          <a:custGeom>
            <a:avLst/>
            <a:gdLst/>
            <a:ahLst/>
            <a:cxnLst/>
            <a:rect r="r" b="b" t="t" l="l"/>
            <a:pathLst>
              <a:path h="463220" w="463210">
                <a:moveTo>
                  <a:pt x="0" y="0"/>
                </a:moveTo>
                <a:lnTo>
                  <a:pt x="463210" y="0"/>
                </a:lnTo>
                <a:lnTo>
                  <a:pt x="463210" y="463220"/>
                </a:lnTo>
                <a:lnTo>
                  <a:pt x="0" y="463220"/>
                </a:lnTo>
                <a:lnTo>
                  <a:pt x="0" y="0"/>
                </a:lnTo>
                <a:close/>
              </a:path>
            </a:pathLst>
          </a:custGeom>
          <a:blipFill>
            <a:blip r:embed="rId2">
              <a:extLst>
                <a:ext uri="{96DAC541-7B7A-43D3-8B79-37D633B846F1}">
                  <asvg:svgBlip xmlns:asvg="http://schemas.microsoft.com/office/drawing/2016/SVG/main" r:embed="rId3"/>
                </a:ext>
              </a:extLst>
            </a:blip>
            <a:stretch>
              <a:fillRect l="-8163" t="0" r="-8165" b="0"/>
            </a:stretch>
          </a:blipFill>
        </p:spPr>
      </p:sp>
      <p:sp>
        <p:nvSpPr>
          <p:cNvPr name="TextBox 9" id="9"/>
          <p:cNvSpPr txBox="true"/>
          <p:nvPr/>
        </p:nvSpPr>
        <p:spPr>
          <a:xfrm rot="0">
            <a:off x="2084422" y="5271011"/>
            <a:ext cx="4119105"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Observing Programs</a:t>
            </a:r>
          </a:p>
        </p:txBody>
      </p:sp>
      <p:sp>
        <p:nvSpPr>
          <p:cNvPr name="TextBox 10" id="10"/>
          <p:cNvSpPr txBox="true"/>
          <p:nvPr/>
        </p:nvSpPr>
        <p:spPr>
          <a:xfrm rot="0">
            <a:off x="2084422" y="5834377"/>
            <a:ext cx="4119105"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Watching and learning about the food distribution, clothing drives, and animal care activities firsthand.</a:t>
            </a:r>
          </a:p>
        </p:txBody>
      </p:sp>
      <p:sp>
        <p:nvSpPr>
          <p:cNvPr name="Freeform 11" id="11" descr="preencoded.png"/>
          <p:cNvSpPr/>
          <p:nvPr/>
        </p:nvSpPr>
        <p:spPr>
          <a:xfrm flipH="false" flipV="false" rot="0">
            <a:off x="6705314" y="5299672"/>
            <a:ext cx="463210" cy="463220"/>
          </a:xfrm>
          <a:custGeom>
            <a:avLst/>
            <a:gdLst/>
            <a:ahLst/>
            <a:cxnLst/>
            <a:rect r="r" b="b" t="t" l="l"/>
            <a:pathLst>
              <a:path h="463220" w="463210">
                <a:moveTo>
                  <a:pt x="0" y="0"/>
                </a:moveTo>
                <a:lnTo>
                  <a:pt x="463211" y="0"/>
                </a:lnTo>
                <a:lnTo>
                  <a:pt x="463211" y="463220"/>
                </a:lnTo>
                <a:lnTo>
                  <a:pt x="0" y="463220"/>
                </a:lnTo>
                <a:lnTo>
                  <a:pt x="0" y="0"/>
                </a:lnTo>
                <a:close/>
              </a:path>
            </a:pathLst>
          </a:custGeom>
          <a:blipFill>
            <a:blip r:embed="rId2">
              <a:extLst>
                <a:ext uri="{96DAC541-7B7A-43D3-8B79-37D633B846F1}">
                  <asvg:svgBlip xmlns:asvg="http://schemas.microsoft.com/office/drawing/2016/SVG/main" r:embed="rId3"/>
                </a:ext>
              </a:extLst>
            </a:blip>
            <a:stretch>
              <a:fillRect l="-8163" t="0" r="-8165" b="0"/>
            </a:stretch>
          </a:blipFill>
        </p:spPr>
      </p:sp>
      <p:sp>
        <p:nvSpPr>
          <p:cNvPr name="TextBox 12" id="12"/>
          <p:cNvSpPr txBox="true"/>
          <p:nvPr/>
        </p:nvSpPr>
        <p:spPr>
          <a:xfrm rot="0">
            <a:off x="7593149" y="5271011"/>
            <a:ext cx="4119105" cy="927611"/>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Documenting Operations</a:t>
            </a:r>
          </a:p>
        </p:txBody>
      </p:sp>
      <p:sp>
        <p:nvSpPr>
          <p:cNvPr name="TextBox 13" id="13"/>
          <p:cNvSpPr txBox="true"/>
          <p:nvPr/>
        </p:nvSpPr>
        <p:spPr>
          <a:xfrm rot="0">
            <a:off x="7593149" y="6288662"/>
            <a:ext cx="4119105"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Recording how the Trust manages its dairy farm, volunteer coordination, and resource allocation.</a:t>
            </a:r>
          </a:p>
        </p:txBody>
      </p:sp>
      <p:sp>
        <p:nvSpPr>
          <p:cNvPr name="Freeform 14" id="14" descr="preencoded.png"/>
          <p:cNvSpPr/>
          <p:nvPr/>
        </p:nvSpPr>
        <p:spPr>
          <a:xfrm flipH="false" flipV="false" rot="0">
            <a:off x="12214031" y="5299672"/>
            <a:ext cx="463210" cy="463220"/>
          </a:xfrm>
          <a:custGeom>
            <a:avLst/>
            <a:gdLst/>
            <a:ahLst/>
            <a:cxnLst/>
            <a:rect r="r" b="b" t="t" l="l"/>
            <a:pathLst>
              <a:path h="463220" w="463210">
                <a:moveTo>
                  <a:pt x="0" y="0"/>
                </a:moveTo>
                <a:lnTo>
                  <a:pt x="463211" y="0"/>
                </a:lnTo>
                <a:lnTo>
                  <a:pt x="463211" y="463220"/>
                </a:lnTo>
                <a:lnTo>
                  <a:pt x="0" y="463220"/>
                </a:lnTo>
                <a:lnTo>
                  <a:pt x="0" y="0"/>
                </a:lnTo>
                <a:close/>
              </a:path>
            </a:pathLst>
          </a:custGeom>
          <a:blipFill>
            <a:blip r:embed="rId2">
              <a:extLst>
                <a:ext uri="{96DAC541-7B7A-43D3-8B79-37D633B846F1}">
                  <asvg:svgBlip xmlns:asvg="http://schemas.microsoft.com/office/drawing/2016/SVG/main" r:embed="rId3"/>
                </a:ext>
              </a:extLst>
            </a:blip>
            <a:stretch>
              <a:fillRect l="-8163" t="0" r="-8165" b="0"/>
            </a:stretch>
          </a:blipFill>
        </p:spPr>
      </p:sp>
      <p:sp>
        <p:nvSpPr>
          <p:cNvPr name="TextBox 15" id="15"/>
          <p:cNvSpPr txBox="true"/>
          <p:nvPr/>
        </p:nvSpPr>
        <p:spPr>
          <a:xfrm rot="0">
            <a:off x="13101876" y="5271011"/>
            <a:ext cx="4119105" cy="927611"/>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Community Engagement</a:t>
            </a:r>
          </a:p>
        </p:txBody>
      </p:sp>
      <p:sp>
        <p:nvSpPr>
          <p:cNvPr name="TextBox 16" id="16"/>
          <p:cNvSpPr txBox="true"/>
          <p:nvPr/>
        </p:nvSpPr>
        <p:spPr>
          <a:xfrm rot="0">
            <a:off x="13101876" y="6288662"/>
            <a:ext cx="4119105"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Interacting with beneficiaries and volunteers to understand the real-world impact of the Trust's work.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2468632"/>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Impact of the Trust's Work</a:t>
            </a:r>
          </a:p>
        </p:txBody>
      </p:sp>
      <p:sp>
        <p:nvSpPr>
          <p:cNvPr name="Freeform 7" id="7" descr="preencoded.png"/>
          <p:cNvSpPr/>
          <p:nvPr/>
        </p:nvSpPr>
        <p:spPr>
          <a:xfrm flipH="false" flipV="false" rot="0">
            <a:off x="1080859" y="4023141"/>
            <a:ext cx="772106" cy="772125"/>
          </a:xfrm>
          <a:custGeom>
            <a:avLst/>
            <a:gdLst/>
            <a:ahLst/>
            <a:cxnLst/>
            <a:rect r="r" b="b" t="t" l="l"/>
            <a:pathLst>
              <a:path h="772125" w="772106">
                <a:moveTo>
                  <a:pt x="0" y="0"/>
                </a:moveTo>
                <a:lnTo>
                  <a:pt x="772106" y="0"/>
                </a:lnTo>
                <a:lnTo>
                  <a:pt x="772106" y="772125"/>
                </a:lnTo>
                <a:lnTo>
                  <a:pt x="0" y="772125"/>
                </a:lnTo>
                <a:lnTo>
                  <a:pt x="0" y="0"/>
                </a:lnTo>
                <a:close/>
              </a:path>
            </a:pathLst>
          </a:custGeom>
          <a:blipFill>
            <a:blip r:embed="rId2">
              <a:extLst>
                <a:ext uri="{96DAC541-7B7A-43D3-8B79-37D633B846F1}">
                  <asvg:svgBlip xmlns:asvg="http://schemas.microsoft.com/office/drawing/2016/SVG/main" r:embed="rId3"/>
                </a:ext>
              </a:extLst>
            </a:blip>
            <a:stretch>
              <a:fillRect l="-4269" t="0" r="-4269" b="0"/>
            </a:stretch>
          </a:blipFill>
        </p:spPr>
      </p:sp>
      <p:sp>
        <p:nvSpPr>
          <p:cNvPr name="TextBox 8" id="8"/>
          <p:cNvSpPr txBox="true"/>
          <p:nvPr/>
        </p:nvSpPr>
        <p:spPr>
          <a:xfrm rot="0">
            <a:off x="1080859" y="5162283"/>
            <a:ext cx="5122669"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Clothes &amp; Blankets</a:t>
            </a:r>
          </a:p>
        </p:txBody>
      </p:sp>
      <p:sp>
        <p:nvSpPr>
          <p:cNvPr name="TextBox 9" id="9"/>
          <p:cNvSpPr txBox="true"/>
          <p:nvPr/>
        </p:nvSpPr>
        <p:spPr>
          <a:xfrm rot="0">
            <a:off x="1080859" y="5725649"/>
            <a:ext cx="5122669" cy="1577845"/>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Providing warm clothing and blankets to vulnerable families, especially during harsh winter months in Uttar Pradesh.</a:t>
            </a:r>
          </a:p>
        </p:txBody>
      </p:sp>
      <p:sp>
        <p:nvSpPr>
          <p:cNvPr name="Freeform 10" id="10" descr="preencoded.png"/>
          <p:cNvSpPr/>
          <p:nvPr/>
        </p:nvSpPr>
        <p:spPr>
          <a:xfrm flipH="false" flipV="false" rot="0">
            <a:off x="6589586" y="4023141"/>
            <a:ext cx="772106" cy="772125"/>
          </a:xfrm>
          <a:custGeom>
            <a:avLst/>
            <a:gdLst/>
            <a:ahLst/>
            <a:cxnLst/>
            <a:rect r="r" b="b" t="t" l="l"/>
            <a:pathLst>
              <a:path h="772125" w="772106">
                <a:moveTo>
                  <a:pt x="0" y="0"/>
                </a:moveTo>
                <a:lnTo>
                  <a:pt x="772106" y="0"/>
                </a:lnTo>
                <a:lnTo>
                  <a:pt x="772106" y="772125"/>
                </a:lnTo>
                <a:lnTo>
                  <a:pt x="0" y="772125"/>
                </a:lnTo>
                <a:lnTo>
                  <a:pt x="0" y="0"/>
                </a:lnTo>
                <a:close/>
              </a:path>
            </a:pathLst>
          </a:custGeom>
          <a:blipFill>
            <a:blip r:embed="rId4">
              <a:extLst>
                <a:ext uri="{96DAC541-7B7A-43D3-8B79-37D633B846F1}">
                  <asvg:svgBlip xmlns:asvg="http://schemas.microsoft.com/office/drawing/2016/SVG/main" r:embed="rId5"/>
                </a:ext>
              </a:extLst>
            </a:blip>
            <a:stretch>
              <a:fillRect l="0" t="-4267" r="0" b="-4267"/>
            </a:stretch>
          </a:blipFill>
        </p:spPr>
      </p:sp>
      <p:sp>
        <p:nvSpPr>
          <p:cNvPr name="TextBox 11" id="11"/>
          <p:cNvSpPr txBox="true"/>
          <p:nvPr/>
        </p:nvSpPr>
        <p:spPr>
          <a:xfrm rot="0">
            <a:off x="6589586" y="5162283"/>
            <a:ext cx="5122669"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Food Support</a:t>
            </a:r>
          </a:p>
        </p:txBody>
      </p:sp>
      <p:sp>
        <p:nvSpPr>
          <p:cNvPr name="TextBox 12" id="12"/>
          <p:cNvSpPr txBox="true"/>
          <p:nvPr/>
        </p:nvSpPr>
        <p:spPr>
          <a:xfrm rot="0">
            <a:off x="6589586" y="5725649"/>
            <a:ext cx="5122669"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Regular food distribution ensuring that no member of the community goes hungry, with a focus on nutritious meals.</a:t>
            </a:r>
          </a:p>
        </p:txBody>
      </p:sp>
      <p:sp>
        <p:nvSpPr>
          <p:cNvPr name="Freeform 13" id="13" descr="preencoded.png"/>
          <p:cNvSpPr/>
          <p:nvPr/>
        </p:nvSpPr>
        <p:spPr>
          <a:xfrm flipH="false" flipV="false" rot="0">
            <a:off x="12098312" y="4023141"/>
            <a:ext cx="772106" cy="772125"/>
          </a:xfrm>
          <a:custGeom>
            <a:avLst/>
            <a:gdLst/>
            <a:ahLst/>
            <a:cxnLst/>
            <a:rect r="r" b="b" t="t" l="l"/>
            <a:pathLst>
              <a:path h="772125" w="772106">
                <a:moveTo>
                  <a:pt x="0" y="0"/>
                </a:moveTo>
                <a:lnTo>
                  <a:pt x="772106" y="0"/>
                </a:lnTo>
                <a:lnTo>
                  <a:pt x="772106" y="772125"/>
                </a:lnTo>
                <a:lnTo>
                  <a:pt x="0" y="772125"/>
                </a:lnTo>
                <a:lnTo>
                  <a:pt x="0" y="0"/>
                </a:lnTo>
                <a:close/>
              </a:path>
            </a:pathLst>
          </a:custGeom>
          <a:blipFill>
            <a:blip r:embed="rId6">
              <a:extLst>
                <a:ext uri="{96DAC541-7B7A-43D3-8B79-37D633B846F1}">
                  <asvg:svgBlip xmlns:asvg="http://schemas.microsoft.com/office/drawing/2016/SVG/main" r:embed="rId7"/>
                </a:ext>
              </a:extLst>
            </a:blip>
            <a:stretch>
              <a:fillRect l="-13415" t="0" r="-13417" b="0"/>
            </a:stretch>
          </a:blipFill>
        </p:spPr>
      </p:sp>
      <p:sp>
        <p:nvSpPr>
          <p:cNvPr name="TextBox 14" id="14"/>
          <p:cNvSpPr txBox="true"/>
          <p:nvPr/>
        </p:nvSpPr>
        <p:spPr>
          <a:xfrm rot="0">
            <a:off x="12098312" y="5162283"/>
            <a:ext cx="5122669" cy="473326"/>
          </a:xfrm>
          <a:prstGeom prst="rect">
            <a:avLst/>
          </a:prstGeom>
        </p:spPr>
        <p:txBody>
          <a:bodyPr anchor="t" rtlCol="false" tIns="0" lIns="0" bIns="0" rIns="0">
            <a:spAutoFit/>
          </a:bodyPr>
          <a:lstStyle/>
          <a:p>
            <a:pPr algn="l">
              <a:lnSpc>
                <a:spcPts val="3559"/>
              </a:lnSpc>
            </a:pPr>
            <a:r>
              <a:rPr lang="en-US" sz="2852">
                <a:solidFill>
                  <a:srgbClr val="D6E5EF"/>
                </a:solidFill>
                <a:latin typeface="Lora"/>
                <a:ea typeface="Lora"/>
                <a:cs typeface="Lora"/>
                <a:sym typeface="Lora"/>
              </a:rPr>
              <a:t>Animal Welfare</a:t>
            </a:r>
          </a:p>
        </p:txBody>
      </p:sp>
      <p:sp>
        <p:nvSpPr>
          <p:cNvPr name="TextBox 15" id="15"/>
          <p:cNvSpPr txBox="true"/>
          <p:nvPr/>
        </p:nvSpPr>
        <p:spPr>
          <a:xfrm rot="0">
            <a:off x="12098312" y="5725649"/>
            <a:ext cx="5122669"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Caring for animals through a dedicated dairy farm that supports both the Trust's operations and the local community.</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2769946"/>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Key Learnings from the Internship</a:t>
            </a:r>
          </a:p>
        </p:txBody>
      </p:sp>
      <p:sp>
        <p:nvSpPr>
          <p:cNvPr name="TextBox 7" id="7"/>
          <p:cNvSpPr txBox="true"/>
          <p:nvPr/>
        </p:nvSpPr>
        <p:spPr>
          <a:xfrm rot="0">
            <a:off x="1080859" y="4459710"/>
            <a:ext cx="7693390" cy="473326"/>
          </a:xfrm>
          <a:prstGeom prst="rect">
            <a:avLst/>
          </a:prstGeom>
        </p:spPr>
        <p:txBody>
          <a:bodyPr anchor="t" rtlCol="false" tIns="0" lIns="0" bIns="0" rIns="0">
            <a:spAutoFit/>
          </a:bodyPr>
          <a:lstStyle/>
          <a:p>
            <a:pPr algn="l">
              <a:lnSpc>
                <a:spcPts val="3559"/>
              </a:lnSpc>
            </a:pPr>
            <a:r>
              <a:rPr lang="en-US" sz="2852">
                <a:solidFill>
                  <a:srgbClr val="F98AC7"/>
                </a:solidFill>
                <a:latin typeface="Lora"/>
                <a:ea typeface="Lora"/>
                <a:cs typeface="Lora"/>
                <a:sym typeface="Lora"/>
              </a:rPr>
              <a:t>Understanding NGO Operations</a:t>
            </a:r>
          </a:p>
        </p:txBody>
      </p:sp>
      <p:sp>
        <p:nvSpPr>
          <p:cNvPr name="TextBox 8" id="8"/>
          <p:cNvSpPr txBox="true"/>
          <p:nvPr/>
        </p:nvSpPr>
        <p:spPr>
          <a:xfrm rot="0">
            <a:off x="1080859" y="5146548"/>
            <a:ext cx="7693390" cy="2072040"/>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The internship provided a deep understanding of how a grassroots NGO like Shri Ram Darbar Trust operates — from resource management and volunteer coordination to program delivery and community outreach.</a:t>
            </a:r>
          </a:p>
        </p:txBody>
      </p:sp>
      <p:grpSp>
        <p:nvGrpSpPr>
          <p:cNvPr name="Group 9" id="9"/>
          <p:cNvGrpSpPr/>
          <p:nvPr/>
        </p:nvGrpSpPr>
        <p:grpSpPr>
          <a:xfrm rot="0">
            <a:off x="9314755" y="4169997"/>
            <a:ext cx="8138122" cy="3326530"/>
            <a:chOff x="0" y="0"/>
            <a:chExt cx="10850829" cy="4435373"/>
          </a:xfrm>
        </p:grpSpPr>
        <p:sp>
          <p:nvSpPr>
            <p:cNvPr name="Freeform 10" id="10"/>
            <p:cNvSpPr/>
            <p:nvPr/>
          </p:nvSpPr>
          <p:spPr>
            <a:xfrm flipH="false" flipV="false" rot="0">
              <a:off x="0" y="0"/>
              <a:ext cx="10850753" cy="4435348"/>
            </a:xfrm>
            <a:custGeom>
              <a:avLst/>
              <a:gdLst/>
              <a:ahLst/>
              <a:cxnLst/>
              <a:rect r="r" b="b" t="t" l="l"/>
              <a:pathLst>
                <a:path h="4435348" w="10850753">
                  <a:moveTo>
                    <a:pt x="0" y="61722"/>
                  </a:moveTo>
                  <a:cubicBezTo>
                    <a:pt x="0" y="27686"/>
                    <a:pt x="27686" y="0"/>
                    <a:pt x="61722" y="0"/>
                  </a:cubicBezTo>
                  <a:lnTo>
                    <a:pt x="10789031" y="0"/>
                  </a:lnTo>
                  <a:cubicBezTo>
                    <a:pt x="10823194" y="0"/>
                    <a:pt x="10850753" y="27686"/>
                    <a:pt x="10850753" y="61722"/>
                  </a:cubicBezTo>
                  <a:lnTo>
                    <a:pt x="10850753" y="4373626"/>
                  </a:lnTo>
                  <a:cubicBezTo>
                    <a:pt x="10850753" y="4407789"/>
                    <a:pt x="10823067" y="4435348"/>
                    <a:pt x="10789031" y="4435348"/>
                  </a:cubicBezTo>
                  <a:lnTo>
                    <a:pt x="61722" y="4435348"/>
                  </a:lnTo>
                  <a:cubicBezTo>
                    <a:pt x="27559" y="4435348"/>
                    <a:pt x="0" y="4407662"/>
                    <a:pt x="0" y="4373626"/>
                  </a:cubicBezTo>
                  <a:close/>
                </a:path>
              </a:pathLst>
            </a:custGeom>
            <a:solidFill>
              <a:srgbClr val="F98AC7"/>
            </a:solidFill>
          </p:spPr>
        </p:sp>
      </p:grpSp>
      <p:sp>
        <p:nvSpPr>
          <p:cNvPr name="TextBox 11" id="11"/>
          <p:cNvSpPr txBox="true"/>
          <p:nvPr/>
        </p:nvSpPr>
        <p:spPr>
          <a:xfrm rot="0">
            <a:off x="9623508" y="4459710"/>
            <a:ext cx="7520616" cy="473326"/>
          </a:xfrm>
          <a:prstGeom prst="rect">
            <a:avLst/>
          </a:prstGeom>
        </p:spPr>
        <p:txBody>
          <a:bodyPr anchor="t" rtlCol="false" tIns="0" lIns="0" bIns="0" rIns="0">
            <a:spAutoFit/>
          </a:bodyPr>
          <a:lstStyle/>
          <a:p>
            <a:pPr algn="l">
              <a:lnSpc>
                <a:spcPts val="3559"/>
              </a:lnSpc>
            </a:pPr>
            <a:r>
              <a:rPr lang="en-US" sz="2852">
                <a:solidFill>
                  <a:srgbClr val="000000"/>
                </a:solidFill>
                <a:latin typeface="Lora"/>
                <a:ea typeface="Lora"/>
                <a:cs typeface="Lora"/>
                <a:sym typeface="Lora"/>
              </a:rPr>
              <a:t>Real-World Research Experience</a:t>
            </a:r>
          </a:p>
        </p:txBody>
      </p:sp>
      <p:sp>
        <p:nvSpPr>
          <p:cNvPr name="TextBox 12" id="12"/>
          <p:cNvSpPr txBox="true"/>
          <p:nvPr/>
        </p:nvSpPr>
        <p:spPr>
          <a:xfrm rot="0">
            <a:off x="9623508" y="5146548"/>
            <a:ext cx="7520616" cy="2072040"/>
          </a:xfrm>
          <a:prstGeom prst="rect">
            <a:avLst/>
          </a:prstGeom>
        </p:spPr>
        <p:txBody>
          <a:bodyPr anchor="t" rtlCol="false" tIns="0" lIns="0" bIns="0" rIns="0">
            <a:spAutoFit/>
          </a:bodyPr>
          <a:lstStyle/>
          <a:p>
            <a:pPr algn="l">
              <a:lnSpc>
                <a:spcPts val="3833"/>
              </a:lnSpc>
            </a:pPr>
            <a:r>
              <a:rPr lang="en-US" sz="2401">
                <a:solidFill>
                  <a:srgbClr val="000000"/>
                </a:solidFill>
                <a:latin typeface="Source Sans 3"/>
                <a:ea typeface="Source Sans 3"/>
                <a:cs typeface="Source Sans 3"/>
                <a:sym typeface="Source Sans 3"/>
              </a:rPr>
              <a:t>By telling them and seeing all the stuff, the Research Intern gained practical, on-the-ground experience that goes beyond textbook knowledge — observing the challenges and rewards of community service work firsthand.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181A24"/>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52833"/>
            </a:solidFill>
          </p:spPr>
        </p:sp>
      </p:grpSp>
      <p:sp>
        <p:nvSpPr>
          <p:cNvPr name="TextBox 6" id="6"/>
          <p:cNvSpPr txBox="true"/>
          <p:nvPr/>
        </p:nvSpPr>
        <p:spPr>
          <a:xfrm rot="0">
            <a:off x="1080859" y="1908448"/>
            <a:ext cx="16140112" cy="936841"/>
          </a:xfrm>
          <a:prstGeom prst="rect">
            <a:avLst/>
          </a:prstGeom>
        </p:spPr>
        <p:txBody>
          <a:bodyPr anchor="t" rtlCol="false" tIns="0" lIns="0" bIns="0" rIns="0">
            <a:spAutoFit/>
          </a:bodyPr>
          <a:lstStyle/>
          <a:p>
            <a:pPr algn="l">
              <a:lnSpc>
                <a:spcPts val="7119"/>
              </a:lnSpc>
            </a:pPr>
            <a:r>
              <a:rPr lang="en-US" sz="5704">
                <a:solidFill>
                  <a:srgbClr val="F98AC7"/>
                </a:solidFill>
                <a:latin typeface="Lora"/>
                <a:ea typeface="Lora"/>
                <a:cs typeface="Lora"/>
                <a:sym typeface="Lora"/>
              </a:rPr>
              <a:t>Conclusion</a:t>
            </a:r>
          </a:p>
        </p:txBody>
      </p:sp>
      <p:sp>
        <p:nvSpPr>
          <p:cNvPr name="TextBox 7" id="7"/>
          <p:cNvSpPr txBox="true"/>
          <p:nvPr/>
        </p:nvSpPr>
        <p:spPr>
          <a:xfrm rot="0">
            <a:off x="1080859" y="3367707"/>
            <a:ext cx="16140112" cy="2913574"/>
          </a:xfrm>
          <a:prstGeom prst="rect">
            <a:avLst/>
          </a:prstGeom>
        </p:spPr>
        <p:txBody>
          <a:bodyPr anchor="t" rtlCol="false" tIns="0" lIns="0" bIns="0" rIns="0">
            <a:spAutoFit/>
          </a:bodyPr>
          <a:lstStyle/>
          <a:p>
            <a:pPr algn="l">
              <a:lnSpc>
                <a:spcPts val="3833"/>
              </a:lnSpc>
            </a:pPr>
            <a:r>
              <a:rPr lang="en-US" sz="2401">
                <a:solidFill>
                  <a:srgbClr val="D6E5EF"/>
                </a:solidFill>
                <a:latin typeface="Source Sans 3"/>
                <a:ea typeface="Source Sans 3"/>
                <a:cs typeface="Source Sans 3"/>
                <a:sym typeface="Source Sans 3"/>
              </a:rPr>
              <a:t>Shri Ram Darbar Trust, Muzaffarnagar, stands as a beacon of hope and compassion in the community. Through its dedicated efforts in providing clothes, blankets, and food to those in need, and through its commitment to animal care via its dairy farm, the Trust demonstrates what it means to serve with heart and purpose.</a:t>
            </a:r>
          </a:p>
          <a:p>
            <a:pPr algn="l">
              <a:lnSpc>
                <a:spcPts val="3833"/>
              </a:lnSpc>
            </a:pPr>
            <a:r>
              <a:rPr lang="en-US" sz="2401">
                <a:solidFill>
                  <a:srgbClr val="D6E5EF"/>
                </a:solidFill>
                <a:latin typeface="Source Sans 3"/>
                <a:ea typeface="Source Sans 3"/>
                <a:cs typeface="Source Sans 3"/>
                <a:sym typeface="Source Sans 3"/>
              </a:rPr>
              <a:t>This internship offered a valuable opportunity to witness and document this meaningful work — contributing to a deeper understanding of grassroots social impact and the power of community-driven change.</a:t>
            </a:r>
          </a:p>
        </p:txBody>
      </p:sp>
      <p:grpSp>
        <p:nvGrpSpPr>
          <p:cNvPr name="Group 8" id="8"/>
          <p:cNvGrpSpPr/>
          <p:nvPr/>
        </p:nvGrpSpPr>
        <p:grpSpPr>
          <a:xfrm rot="0">
            <a:off x="1080859" y="6628628"/>
            <a:ext cx="16140112" cy="1729397"/>
            <a:chOff x="0" y="0"/>
            <a:chExt cx="21520150" cy="2305863"/>
          </a:xfrm>
        </p:grpSpPr>
        <p:sp>
          <p:nvSpPr>
            <p:cNvPr name="Freeform 9" id="9"/>
            <p:cNvSpPr/>
            <p:nvPr/>
          </p:nvSpPr>
          <p:spPr>
            <a:xfrm flipH="false" flipV="false" rot="0">
              <a:off x="0" y="0"/>
              <a:ext cx="21520150" cy="2305812"/>
            </a:xfrm>
            <a:custGeom>
              <a:avLst/>
              <a:gdLst/>
              <a:ahLst/>
              <a:cxnLst/>
              <a:rect r="r" b="b" t="t" l="l"/>
              <a:pathLst>
                <a:path h="2305812" w="21520150">
                  <a:moveTo>
                    <a:pt x="0" y="61722"/>
                  </a:moveTo>
                  <a:cubicBezTo>
                    <a:pt x="0" y="27686"/>
                    <a:pt x="27686" y="0"/>
                    <a:pt x="61722" y="0"/>
                  </a:cubicBezTo>
                  <a:lnTo>
                    <a:pt x="21458428" y="0"/>
                  </a:lnTo>
                  <a:cubicBezTo>
                    <a:pt x="21492592" y="0"/>
                    <a:pt x="21520150" y="27686"/>
                    <a:pt x="21520150" y="61722"/>
                  </a:cubicBezTo>
                  <a:lnTo>
                    <a:pt x="21520150" y="2244090"/>
                  </a:lnTo>
                  <a:cubicBezTo>
                    <a:pt x="21520150" y="2278253"/>
                    <a:pt x="21492465" y="2305812"/>
                    <a:pt x="21458428" y="2305812"/>
                  </a:cubicBezTo>
                  <a:lnTo>
                    <a:pt x="61722" y="2305812"/>
                  </a:lnTo>
                  <a:cubicBezTo>
                    <a:pt x="27559" y="2305812"/>
                    <a:pt x="0" y="2278126"/>
                    <a:pt x="0" y="2244090"/>
                  </a:cubicBezTo>
                  <a:close/>
                </a:path>
              </a:pathLst>
            </a:custGeom>
            <a:solidFill>
              <a:srgbClr val="790645"/>
            </a:solidFill>
          </p:spPr>
        </p:sp>
      </p:grpSp>
      <p:grpSp>
        <p:nvGrpSpPr>
          <p:cNvPr name="Group 10" id="10"/>
          <p:cNvGrpSpPr/>
          <p:nvPr/>
        </p:nvGrpSpPr>
        <p:grpSpPr>
          <a:xfrm rot="0">
            <a:off x="1389621" y="7068455"/>
            <a:ext cx="386058" cy="308762"/>
            <a:chOff x="0" y="0"/>
            <a:chExt cx="514744" cy="411683"/>
          </a:xfrm>
        </p:grpSpPr>
        <p:sp>
          <p:nvSpPr>
            <p:cNvPr name="Freeform 11" id="11" descr="preencoded.png"/>
            <p:cNvSpPr/>
            <p:nvPr/>
          </p:nvSpPr>
          <p:spPr>
            <a:xfrm flipH="false" flipV="false" rot="0">
              <a:off x="0" y="0"/>
              <a:ext cx="514731" cy="411734"/>
            </a:xfrm>
            <a:custGeom>
              <a:avLst/>
              <a:gdLst/>
              <a:ahLst/>
              <a:cxnLst/>
              <a:rect r="r" b="b" t="t" l="l"/>
              <a:pathLst>
                <a:path h="411734" w="514731">
                  <a:moveTo>
                    <a:pt x="0" y="0"/>
                  </a:moveTo>
                  <a:lnTo>
                    <a:pt x="514731" y="0"/>
                  </a:lnTo>
                  <a:lnTo>
                    <a:pt x="514731" y="411734"/>
                  </a:lnTo>
                  <a:lnTo>
                    <a:pt x="0" y="411734"/>
                  </a:lnTo>
                  <a:lnTo>
                    <a:pt x="0" y="0"/>
                  </a:lnTo>
                  <a:close/>
                </a:path>
              </a:pathLst>
            </a:custGeom>
            <a:blipFill>
              <a:blip r:embed="rId2"/>
              <a:stretch>
                <a:fillRect l="0" t="-317" r="-2" b="-305"/>
              </a:stretch>
            </a:blipFill>
          </p:spPr>
        </p:sp>
      </p:grpSp>
      <p:sp>
        <p:nvSpPr>
          <p:cNvPr name="TextBox 12" id="12"/>
          <p:cNvSpPr txBox="true"/>
          <p:nvPr/>
        </p:nvSpPr>
        <p:spPr>
          <a:xfrm rot="0">
            <a:off x="2084422" y="6919293"/>
            <a:ext cx="14827796" cy="1083650"/>
          </a:xfrm>
          <a:prstGeom prst="rect">
            <a:avLst/>
          </a:prstGeom>
        </p:spPr>
        <p:txBody>
          <a:bodyPr anchor="t" rtlCol="false" tIns="0" lIns="0" bIns="0" rIns="0">
            <a:spAutoFit/>
          </a:bodyPr>
          <a:lstStyle/>
          <a:p>
            <a:pPr algn="l">
              <a:lnSpc>
                <a:spcPts val="3833"/>
              </a:lnSpc>
            </a:pPr>
            <a:r>
              <a:rPr lang="en-US" sz="2401">
                <a:solidFill>
                  <a:srgbClr val="FFFFFF"/>
                </a:solidFill>
                <a:latin typeface="Source Sans 3"/>
                <a:ea typeface="Source Sans 3"/>
                <a:cs typeface="Source Sans 3"/>
                <a:sym typeface="Source Sans 3"/>
              </a:rPr>
              <a:t>This presentation was created as part of the Research Internship at Shri Ram Darbar Trust, Muzaffarnagar — June 4, 2026 to July 5,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DAHTd8pD9O4</dc:identifier>
  <dcterms:modified xsi:type="dcterms:W3CDTF">2011-08-01T06:04:30Z</dcterms:modified>
  <cp:revision>1</cp:revision>
</cp:coreProperties>
</file>