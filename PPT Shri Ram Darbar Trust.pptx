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84"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Nova Light" panose="020B0304020202020204" pitchFamily="34" charset="0"/>
      <p:regular r:id="rId12"/>
    </p:embeddedFont>
    <p:embeddedFont>
      <p:font typeface="Lora" pitchFamily="2" charset="0"/>
      <p:regular r:id="rId13"/>
    </p:embeddedFont>
    <p:embeddedFont>
      <p:font typeface="Lora Bold" charset="0"/>
      <p:regular r:id="rId14"/>
    </p:embeddedFont>
    <p:embeddedFont>
      <p:font typeface="Source Sans 3" panose="020B0604020202020204" charset="0"/>
      <p:regular r:id="rId15"/>
    </p:embeddedFont>
    <p:embeddedFont>
      <p:font typeface="Source Sans 3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2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10184" y="-2"/>
            <a:ext cx="18288002" cy="10287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9144000" cy="10286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75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3602834"/>
            <a:ext cx="9144000" cy="6684168"/>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21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8/28/2026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941664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083423"/>
            <a:ext cx="14745026" cy="1097280"/>
          </a:xfrm>
        </p:spPr>
        <p:txBody>
          <a:bodyPr anchor="b">
            <a:normAutofit/>
          </a:bodyPr>
          <a:lstStyle>
            <a:lvl1pPr>
              <a:defRPr sz="42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2628" y="3017520"/>
            <a:ext cx="17103852" cy="6583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592074" y="2557254"/>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057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8288000" cy="10287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9144000" y="-1"/>
            <a:ext cx="9144000" cy="10286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63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7503459" y="6347008"/>
            <a:ext cx="10784541" cy="3939992"/>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21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11430001" y="315468"/>
            <a:ext cx="2209802" cy="548640"/>
          </a:xfrm>
        </p:spPr>
        <p:txBody>
          <a:bodyPr/>
          <a:lstStyle/>
          <a:p>
            <a:fld id="{21560963-1EEA-4BDE-8FF9-3FEE13B5D43C}" type="datetime1">
              <a:rPr lang="en-US" smtClean="0"/>
              <a:t>8/28/2026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13747382" y="315468"/>
            <a:ext cx="3272027" cy="54864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7171567" y="315468"/>
            <a:ext cx="673208" cy="54864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245015845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411480" y="1699821"/>
            <a:ext cx="17447217" cy="2738511"/>
          </a:xfrm>
        </p:spPr>
        <p:txBody>
          <a:bodyPr anchor="t"/>
          <a:lstStyle>
            <a:lvl1pPr>
              <a:defRPr sz="75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452627" y="8026839"/>
            <a:ext cx="10853931" cy="1156914"/>
          </a:xfrm>
          <a:noFill/>
        </p:spPr>
        <p:txBody>
          <a:bodyPr vert="horz" lIns="91440" tIns="45720" rIns="91440" bIns="45720" rtlCol="0" anchor="t">
            <a:noAutofit/>
          </a:bodyPr>
          <a:lstStyle>
            <a:lvl1pPr marL="0" indent="0">
              <a:buNone/>
              <a:defRPr lang="en-US" sz="27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1D8BD707-D9CF-40AE-B4C6-C98DA3205C09}" type="datetimeFigureOut">
              <a:rPr lang="en-US" smtClean="0"/>
              <a:pPr/>
              <a:t>8/28/2026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5148182"/>
            <a:ext cx="18288000" cy="2737550"/>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8907951" y="-1495279"/>
            <a:ext cx="2737551" cy="1602254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3970082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550833" y="550838"/>
            <a:ext cx="10299534" cy="9197864"/>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2966923" y="3460996"/>
            <a:ext cx="9792929" cy="385907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2" y="6324164"/>
            <a:ext cx="13330949" cy="3966800"/>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527749" y="1428750"/>
            <a:ext cx="13330949" cy="8455197"/>
          </a:xfrm>
        </p:spPr>
        <p:txBody>
          <a:bodyPr anchor="b">
            <a:normAutofit/>
          </a:bodyPr>
          <a:lstStyle>
            <a:lvl1pPr algn="r">
              <a:defRPr sz="10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8/28/2026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126763813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42676" y="0"/>
            <a:ext cx="11400278" cy="10287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1" y="5114171"/>
            <a:ext cx="11414453" cy="5172830"/>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592224" y="-563725"/>
            <a:ext cx="10287000" cy="11414453"/>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782920" y="626966"/>
            <a:ext cx="8277168" cy="11042900"/>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400054" y="2571747"/>
            <a:ext cx="7440926" cy="7084314"/>
          </a:xfrm>
        </p:spPr>
        <p:txBody>
          <a:bodyPr/>
          <a:lstStyle>
            <a:lvl1pPr>
              <a:defRPr sz="75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8/28/2026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11864052" y="315171"/>
            <a:ext cx="3763926" cy="54864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1928349" y="1870427"/>
            <a:ext cx="5106416" cy="7384778"/>
          </a:xfrm>
        </p:spPr>
        <p:txBody>
          <a:bodyPr vert="horz" lIns="91440" tIns="45720" rIns="91440" bIns="45720" rtlCol="0" anchor="t">
            <a:normAutofit/>
          </a:bodyPr>
          <a:lstStyle>
            <a:lvl1pPr marL="685800" indent="-685800">
              <a:spcBef>
                <a:spcPts val="1500"/>
              </a:spcBef>
              <a:spcAft>
                <a:spcPts val="900"/>
              </a:spcAft>
              <a:buFont typeface="+mj-lt"/>
              <a:buAutoNum type="arabicPeriod"/>
              <a:defRPr lang="en-US" sz="2400" dirty="0"/>
            </a:lvl1pPr>
            <a:lvl2pPr marL="857250" indent="-514350">
              <a:spcBef>
                <a:spcPts val="1500"/>
              </a:spcBef>
              <a:spcAft>
                <a:spcPts val="900"/>
              </a:spcAft>
              <a:buFont typeface="+mj-lt"/>
              <a:buAutoNum type="arabicPeriod"/>
              <a:defRPr lang="en-US" sz="2100" dirty="0"/>
            </a:lvl2pPr>
            <a:lvl3pPr marL="1200150" indent="-514350">
              <a:spcBef>
                <a:spcPts val="1500"/>
              </a:spcBef>
              <a:spcAft>
                <a:spcPts val="900"/>
              </a:spcAft>
              <a:buFont typeface="+mj-lt"/>
              <a:buAutoNum type="arabicPeriod"/>
              <a:defRPr lang="en-US" sz="2100" dirty="0"/>
            </a:lvl3pPr>
            <a:lvl4pPr>
              <a:spcBef>
                <a:spcPts val="1500"/>
              </a:spcBef>
              <a:spcAft>
                <a:spcPts val="900"/>
              </a:spcAft>
              <a:buFont typeface="+mj-lt"/>
              <a:buAutoNum type="arabicPeriod"/>
              <a:defRPr lang="en-US" sz="2100" dirty="0"/>
            </a:lvl4pPr>
            <a:lvl5pPr>
              <a:spcBef>
                <a:spcPts val="1500"/>
              </a:spcBef>
              <a:spcAft>
                <a:spcPts val="900"/>
              </a:spcAft>
              <a:buFont typeface="+mj-lt"/>
              <a:buAutoNum type="arabicPeriod"/>
              <a:defRPr lang="en-US" sz="2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12003840" y="1143000"/>
            <a:ext cx="576072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65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21929" y="-3"/>
            <a:ext cx="18266069" cy="6738606"/>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1085855" y="1742933"/>
            <a:ext cx="17202146" cy="4995671"/>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21931" y="-11199"/>
            <a:ext cx="9165932" cy="3750614"/>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411480" y="2203386"/>
            <a:ext cx="7644264" cy="3691962"/>
          </a:xfrm>
        </p:spPr>
        <p:txBody>
          <a:bodyPr/>
          <a:lstStyle>
            <a:lvl1pPr>
              <a:defRPr sz="75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628651" y="315171"/>
            <a:ext cx="3096134" cy="548640"/>
          </a:xfrm>
        </p:spPr>
        <p:txBody>
          <a:bodyPr/>
          <a:lstStyle>
            <a:lvl1pPr>
              <a:defRPr>
                <a:solidFill>
                  <a:schemeClr val="tx1"/>
                </a:solidFill>
              </a:defRPr>
            </a:lvl1pPr>
          </a:lstStyle>
          <a:p>
            <a:fld id="{1D8BD707-D9CF-40AE-B4C6-C98DA3205C09}" type="datetimeFigureOut">
              <a:rPr lang="en-US" smtClean="0"/>
              <a:pPr/>
              <a:t>8/28/2026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9715500" y="315171"/>
            <a:ext cx="4877262" cy="54864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731075" y="1742933"/>
            <a:ext cx="6237237" cy="4152417"/>
          </a:xfrm>
        </p:spPr>
        <p:txBody>
          <a:bodyPr vert="horz" lIns="91440" tIns="45720" rIns="91440" bIns="45720" rtlCol="0" anchor="b">
            <a:normAutofit/>
          </a:bodyPr>
          <a:lstStyle>
            <a:lvl1pPr marL="685800" indent="-685800">
              <a:spcBef>
                <a:spcPts val="1500"/>
              </a:spcBef>
              <a:spcAft>
                <a:spcPts val="900"/>
              </a:spcAft>
              <a:buFont typeface="+mj-lt"/>
              <a:buAutoNum type="arabicPeriod"/>
              <a:defRPr lang="en-US" sz="2400" dirty="0"/>
            </a:lvl1pPr>
            <a:lvl2pPr marL="857250" indent="-514350">
              <a:spcBef>
                <a:spcPts val="1500"/>
              </a:spcBef>
              <a:spcAft>
                <a:spcPts val="900"/>
              </a:spcAft>
              <a:buFont typeface="+mj-lt"/>
              <a:buAutoNum type="arabicPeriod"/>
              <a:defRPr lang="en-US" sz="2100" dirty="0"/>
            </a:lvl2pPr>
            <a:lvl3pPr marL="1200150" indent="-514350">
              <a:spcBef>
                <a:spcPts val="1500"/>
              </a:spcBef>
              <a:spcAft>
                <a:spcPts val="900"/>
              </a:spcAft>
              <a:buFont typeface="+mj-lt"/>
              <a:buAutoNum type="arabicPeriod"/>
              <a:defRPr lang="en-US" sz="2100" dirty="0"/>
            </a:lvl3pPr>
            <a:lvl4pPr>
              <a:spcBef>
                <a:spcPts val="1500"/>
              </a:spcBef>
              <a:spcAft>
                <a:spcPts val="900"/>
              </a:spcAft>
              <a:buFont typeface="+mj-lt"/>
              <a:buAutoNum type="arabicPeriod"/>
              <a:defRPr lang="en-US" sz="2100" dirty="0"/>
            </a:lvl4pPr>
            <a:lvl5pPr>
              <a:spcBef>
                <a:spcPts val="1500"/>
              </a:spcBef>
              <a:spcAft>
                <a:spcPts val="900"/>
              </a:spcAft>
              <a:buFont typeface="+mj-lt"/>
              <a:buAutoNum type="arabicPeriod"/>
              <a:defRPr lang="en-US" sz="2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6738604"/>
            <a:ext cx="18288000" cy="3548396"/>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743125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8288000" cy="1030436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1" y="2591185"/>
            <a:ext cx="18288002" cy="7695812"/>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6427573" y="-1556060"/>
            <a:ext cx="10304369" cy="13416486"/>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5380078" y="-1022558"/>
            <a:ext cx="10174748" cy="12444357"/>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592074" y="9151620"/>
            <a:ext cx="17103852"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2"/>
            <a:ext cx="18288000" cy="7922136"/>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7" y="1371600"/>
            <a:ext cx="11247120" cy="3931920"/>
          </a:xfrm>
        </p:spPr>
        <p:txBody>
          <a:bodyPr anchor="b">
            <a:normAutofit/>
          </a:bodyPr>
          <a:lstStyle>
            <a:lvl1pPr>
              <a:defRPr sz="72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2627" y="5852160"/>
            <a:ext cx="1124712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129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587703" y="1160772"/>
            <a:ext cx="17700297" cy="4727853"/>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1160771"/>
            <a:ext cx="16539882" cy="2451405"/>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800350" y="2877216"/>
            <a:ext cx="4408779" cy="3145221"/>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8001001" y="315171"/>
            <a:ext cx="4409237" cy="54864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8001000" y="2877218"/>
            <a:ext cx="7486650" cy="61995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68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428750"/>
            <a:ext cx="4999176" cy="2372868"/>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452628" y="308979"/>
            <a:ext cx="1645920" cy="548640"/>
          </a:xfrm>
        </p:spPr>
        <p:txBody>
          <a:bodyPr/>
          <a:lstStyle/>
          <a:p>
            <a:fld id="{1D8BD707-D9CF-40AE-B4C6-C98DA3205C09}" type="datetimeFigureOut">
              <a:rPr lang="en-US" smtClean="0"/>
              <a:pPr/>
              <a:t>8/28/2026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2241567" y="310937"/>
            <a:ext cx="2459058" cy="54864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4711140" y="315171"/>
            <a:ext cx="740664" cy="548640"/>
          </a:xfrm>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2628" y="4649724"/>
            <a:ext cx="4999176" cy="4581144"/>
          </a:xfrm>
        </p:spPr>
        <p:txBody>
          <a:bodyPr>
            <a:normAutofit/>
          </a:bodyPr>
          <a:lstStyle>
            <a:lvl1pPr marL="0" indent="0">
              <a:buNone/>
              <a:defRPr sz="2100"/>
            </a:lvl1pPr>
            <a:lvl2pPr marL="342900" indent="0">
              <a:buNone/>
              <a:defRPr sz="2100"/>
            </a:lvl2pPr>
            <a:lvl3pPr marL="685800" indent="0">
              <a:buNone/>
              <a:defRPr sz="2100"/>
            </a:lvl3pPr>
            <a:lvl4pPr marL="1028700" indent="0">
              <a:buNone/>
              <a:defRPr sz="2100"/>
            </a:lvl4pPr>
            <a:lvl5pPr marL="1371600" indent="0">
              <a:buNone/>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6229350" y="0"/>
            <a:ext cx="12058650" cy="10287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595932" y="4216916"/>
            <a:ext cx="486920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48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6423077"/>
            <a:ext cx="5116437" cy="2299464"/>
          </a:xfrm>
        </p:spPr>
        <p:txBody>
          <a:bodyPr anchor="t">
            <a:normAutofit/>
          </a:bodyPr>
          <a:lstStyle>
            <a:lvl1pPr>
              <a:defRPr sz="42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8288000" cy="5796113"/>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1" y="6423077"/>
            <a:ext cx="10515599" cy="2299464"/>
          </a:xfrm>
        </p:spPr>
        <p:txBody>
          <a:bodyPr>
            <a:noAutofit/>
          </a:bodyPr>
          <a:lstStyle>
            <a:lvl1pPr marL="0" indent="0">
              <a:buFont typeface="Arial" panose="020B0604020202020204" pitchFamily="34" charset="0"/>
              <a:buNone/>
              <a:defRPr sz="2400"/>
            </a:lvl1pPr>
            <a:lvl2pPr marL="342900" indent="0">
              <a:buFont typeface="Arial" panose="020B0604020202020204" pitchFamily="34" charset="0"/>
              <a:buNone/>
              <a:defRPr sz="2100"/>
            </a:lvl2pPr>
            <a:lvl3pPr marL="685800" indent="0">
              <a:buFont typeface="Arial" panose="020B0604020202020204" pitchFamily="34" charset="0"/>
              <a:buNone/>
              <a:defRPr sz="1800"/>
            </a:lvl3pPr>
            <a:lvl4pPr marL="1028700" indent="0">
              <a:buFont typeface="Arial" panose="020B0604020202020204" pitchFamily="34" charset="0"/>
              <a:buNone/>
              <a:defRPr sz="1650"/>
            </a:lvl4pPr>
            <a:lvl5pPr marL="1371600" indent="0">
              <a:buFont typeface="Arial" panose="020B0604020202020204" pitchFamily="34" charset="0"/>
              <a:buNone/>
              <a:defRPr sz="15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2628" y="9395460"/>
            <a:ext cx="2638932" cy="548640"/>
          </a:xfrm>
        </p:spPr>
        <p:txBody>
          <a:bodyPr/>
          <a:lstStyle/>
          <a:p>
            <a:fld id="{1D8BD707-D9CF-40AE-B4C6-C98DA3205C09}" type="datetimeFigureOut">
              <a:rPr lang="en-US" smtClean="0"/>
              <a:pPr/>
              <a:t>8/28/2026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20840" y="9395460"/>
            <a:ext cx="3763926" cy="54864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6950485" y="9395460"/>
            <a:ext cx="908213" cy="548640"/>
          </a:xfrm>
        </p:spPr>
        <p:txBody>
          <a:bodyPr/>
          <a:lstStyle/>
          <a:p>
            <a:fld id="{B6F15528-21DE-4FAA-801E-634DDDAF4B2B}" type="slidenum">
              <a:rPr lang="en-US" smtClean="0"/>
              <a:pPr/>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592074" y="914279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090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10439399" y="8624520"/>
            <a:ext cx="7848600" cy="166248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37976" y="1433716"/>
            <a:ext cx="6172200" cy="1866077"/>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2"/>
            <a:ext cx="10439400" cy="10287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1204147" y="315171"/>
            <a:ext cx="2228850" cy="548640"/>
          </a:xfrm>
        </p:spPr>
        <p:txBody>
          <a:bodyPr/>
          <a:lstStyle/>
          <a:p>
            <a:fld id="{1D8BD707-D9CF-40AE-B4C6-C98DA3205C09}" type="datetimeFigureOut">
              <a:rPr lang="en-US" smtClean="0"/>
              <a:pPr/>
              <a:t>8/28/2026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14064144" y="315171"/>
            <a:ext cx="2790696" cy="54864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1237976" y="4186550"/>
            <a:ext cx="6172200" cy="50749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11393162" y="3713634"/>
            <a:ext cx="6017015"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10439399" y="8624520"/>
            <a:ext cx="7848600" cy="166248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747465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526529"/>
            <a:ext cx="5116437" cy="2299464"/>
          </a:xfrm>
        </p:spPr>
        <p:txBody>
          <a:bodyPr anchor="t">
            <a:normAutofit/>
          </a:bodyPr>
          <a:lstStyle>
            <a:lvl1pPr>
              <a:defRPr sz="4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D8BD707-D9CF-40AE-B4C6-C98DA3205C09}" type="datetimeFigureOut">
              <a:rPr lang="en-US" smtClean="0"/>
              <a:pPr/>
              <a:t>8/28/2026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20840" y="315171"/>
            <a:ext cx="3763926" cy="54864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1" y="1526529"/>
            <a:ext cx="10515599" cy="3566160"/>
          </a:xfrm>
        </p:spPr>
        <p:txBody>
          <a:bodyPr>
            <a:noAutofit/>
          </a:bodyPr>
          <a:lstStyle>
            <a:lvl1pPr marL="0" indent="0">
              <a:buFont typeface="Arial" panose="020B0604020202020204" pitchFamily="34" charset="0"/>
              <a:buNone/>
              <a:defRPr sz="2400"/>
            </a:lvl1pPr>
            <a:lvl2pPr marL="342900" indent="0">
              <a:buFont typeface="Arial" panose="020B0604020202020204" pitchFamily="34" charset="0"/>
              <a:buNone/>
              <a:defRPr sz="2100"/>
            </a:lvl2pPr>
            <a:lvl3pPr marL="685800" indent="0">
              <a:buFont typeface="Arial" panose="020B0604020202020204" pitchFamily="34" charset="0"/>
              <a:buNone/>
              <a:defRPr sz="1800"/>
            </a:lvl3pPr>
            <a:lvl4pPr marL="1028700" indent="0">
              <a:buFont typeface="Arial" panose="020B0604020202020204" pitchFamily="34" charset="0"/>
              <a:buNone/>
              <a:defRPr sz="1650"/>
            </a:lvl4pPr>
            <a:lvl5pPr marL="1371600" indent="0">
              <a:buFont typeface="Arial" panose="020B0604020202020204" pitchFamily="34" charset="0"/>
              <a:buNone/>
              <a:defRPr sz="15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5756564"/>
            <a:ext cx="18288000" cy="4530437"/>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598817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2057400"/>
            <a:ext cx="5212080" cy="3429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1D8BD707-D9CF-40AE-B4C6-C98DA3205C09}" type="datetimeFigureOut">
              <a:rPr lang="en-US" smtClean="0"/>
              <a:pPr/>
              <a:t>8/28/2026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6686551" y="315171"/>
            <a:ext cx="4288961" cy="54864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11417359" y="315171"/>
            <a:ext cx="908213" cy="548640"/>
          </a:xfrm>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686550" y="2057401"/>
            <a:ext cx="5053167" cy="70529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13096568" y="1"/>
            <a:ext cx="5191433" cy="1030031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1" y="7156609"/>
            <a:ext cx="7311992" cy="3143708"/>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 name="Rectangle 5">
            <a:extLst>
              <a:ext uri="{FF2B5EF4-FFF2-40B4-BE49-F238E27FC236}">
                <a16:creationId xmlns:a16="http://schemas.microsoft.com/office/drawing/2014/main" id="{E21E79A5-CC18-0B38-C9F4-CA5690475280}"/>
              </a:ext>
            </a:extLst>
          </p:cNvPr>
          <p:cNvSpPr/>
          <p:nvPr/>
        </p:nvSpPr>
        <p:spPr>
          <a:xfrm flipH="1">
            <a:off x="-3" y="5779364"/>
            <a:ext cx="4234650" cy="4534269"/>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595503" y="1126970"/>
            <a:ext cx="115900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54270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9" y="1428749"/>
            <a:ext cx="10126691" cy="1876307"/>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452628" y="305793"/>
            <a:ext cx="3429000" cy="548640"/>
          </a:xfrm>
        </p:spPr>
        <p:txBody>
          <a:bodyPr/>
          <a:lstStyle/>
          <a:p>
            <a:fld id="{1D8BD707-D9CF-40AE-B4C6-C98DA3205C09}" type="datetimeFigureOut">
              <a:rPr lang="en-US" smtClean="0"/>
              <a:pPr/>
              <a:t>8/28/2026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3886200" y="305793"/>
            <a:ext cx="4162505" cy="54864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9371004" y="305793"/>
            <a:ext cx="1297191" cy="548640"/>
          </a:xfrm>
        </p:spPr>
        <p:txBody>
          <a:body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2628" y="3615777"/>
            <a:ext cx="10133271" cy="57111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11430000" y="0"/>
            <a:ext cx="6858000" cy="10287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5559147"/>
            <a:ext cx="11430000" cy="4727853"/>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Rectangle 6">
            <a:extLst>
              <a:ext uri="{FF2B5EF4-FFF2-40B4-BE49-F238E27FC236}">
                <a16:creationId xmlns:a16="http://schemas.microsoft.com/office/drawing/2014/main" id="{A5E19E54-3987-D72A-629F-B4FB61FCC4E9}"/>
              </a:ext>
            </a:extLst>
          </p:cNvPr>
          <p:cNvSpPr/>
          <p:nvPr/>
        </p:nvSpPr>
        <p:spPr>
          <a:xfrm flipH="1">
            <a:off x="0" y="8395668"/>
            <a:ext cx="11430000" cy="1891332"/>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595503" y="1126970"/>
            <a:ext cx="9930384"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81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4251959"/>
            <a:ext cx="4521573" cy="4389120"/>
          </a:xfrm>
        </p:spPr>
        <p:txBody>
          <a:bodyPr anchor="t">
            <a:normAutofit/>
          </a:bodyPr>
          <a:lstStyle>
            <a:lvl1pPr>
              <a:defRPr sz="42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26694" y="0"/>
            <a:ext cx="18314694" cy="3630147"/>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0" y="4251960"/>
            <a:ext cx="10801350" cy="4389120"/>
          </a:xfrm>
        </p:spPr>
        <p:txBody>
          <a:bodyPr>
            <a:noAutofit/>
          </a:bodyPr>
          <a:lstStyle>
            <a:lvl1pPr marL="428625" indent="-428625">
              <a:buFont typeface="Arial" panose="020B0604020202020204" pitchFamily="34" charset="0"/>
              <a:buNone/>
              <a:defRPr sz="2700"/>
            </a:lvl1pPr>
            <a:lvl2pPr marL="771525" indent="-428625">
              <a:buFont typeface="Arial" panose="020B0604020202020204" pitchFamily="34" charset="0"/>
              <a:buNone/>
              <a:defRPr sz="2400"/>
            </a:lvl2pPr>
            <a:lvl3pPr marL="1114425" indent="-428625">
              <a:buFont typeface="Arial" panose="020B0604020202020204" pitchFamily="34" charset="0"/>
              <a:buNone/>
              <a:defRPr sz="2100"/>
            </a:lvl3pPr>
            <a:lvl4pPr marL="1285875" indent="-257175">
              <a:buFont typeface="Arial" panose="020B0604020202020204" pitchFamily="34" charset="0"/>
              <a:buNone/>
              <a:defRPr sz="1800"/>
            </a:lvl4pPr>
            <a:lvl5pPr marL="1628775" indent="-257175">
              <a:buFont typeface="Arial" panose="020B0604020202020204" pitchFamily="34" charset="0"/>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452628" y="9411050"/>
            <a:ext cx="4521573" cy="548640"/>
          </a:xfrm>
        </p:spPr>
        <p:txBody>
          <a:bodyPr/>
          <a:lstStyle/>
          <a:p>
            <a:fld id="{1D8BD707-D9CF-40AE-B4C6-C98DA3205C09}" type="datetimeFigureOut">
              <a:rPr lang="en-US" smtClean="0"/>
              <a:pPr/>
              <a:t>8/28/2026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6720840" y="9411050"/>
            <a:ext cx="4743450" cy="54864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6939261" y="9411050"/>
            <a:ext cx="853376" cy="548640"/>
          </a:xfrm>
        </p:spPr>
        <p:txBody>
          <a:body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592074" y="914279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563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8" y="1516401"/>
            <a:ext cx="5261127" cy="2097741"/>
          </a:xfrm>
        </p:spPr>
        <p:txBody>
          <a:bodyPr anchor="t">
            <a:normAutofit/>
          </a:bodyPr>
          <a:lstStyle>
            <a:lvl1pPr>
              <a:defRPr sz="4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7399020" y="315171"/>
            <a:ext cx="3763926" cy="54864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677027" y="4020671"/>
            <a:ext cx="5036729" cy="5493125"/>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3257553" y="8770599"/>
            <a:ext cx="15030447" cy="1516401"/>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11651047" y="3650044"/>
            <a:ext cx="7416050" cy="585785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6640236" y="1613648"/>
            <a:ext cx="0" cy="7416053"/>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7399019" y="1516398"/>
            <a:ext cx="9738360" cy="7818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35586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8" y="1529717"/>
            <a:ext cx="5129070" cy="2784830"/>
          </a:xfrm>
        </p:spPr>
        <p:txBody>
          <a:bodyPr anchor="t">
            <a:normAutofit/>
          </a:bodyPr>
          <a:lstStyle>
            <a:lvl1pPr>
              <a:defRPr sz="42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6718454" y="315171"/>
            <a:ext cx="3763926" cy="54864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573585" y="4567562"/>
            <a:ext cx="5008113" cy="494623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718452" y="1529715"/>
            <a:ext cx="10972800" cy="83667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8826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9715498" y="7361417"/>
            <a:ext cx="7980428" cy="2158310"/>
          </a:xfrm>
        </p:spPr>
        <p:txBody>
          <a:bodyPr anchor="t"/>
          <a:lstStyle>
            <a:lvl1pPr>
              <a:lnSpc>
                <a:spcPct val="100000"/>
              </a:lnSpc>
              <a:defRPr sz="3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411957" y="1150145"/>
            <a:ext cx="16980693" cy="5233988"/>
          </a:xfrm>
        </p:spPr>
        <p:txBody>
          <a:bodyPr/>
          <a:lstStyle>
            <a:lvl1pPr>
              <a:lnSpc>
                <a:spcPct val="85000"/>
              </a:lnSpc>
              <a:defRPr sz="36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592074" y="6993365"/>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304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2" y="0"/>
            <a:ext cx="18288003" cy="10287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2" name="Rectangle 21">
            <a:extLst>
              <a:ext uri="{FF2B5EF4-FFF2-40B4-BE49-F238E27FC236}">
                <a16:creationId xmlns:a16="http://schemas.microsoft.com/office/drawing/2014/main" id="{A3602343-A974-BE4B-41E6-58237921FB4D}"/>
              </a:ext>
            </a:extLst>
          </p:cNvPr>
          <p:cNvSpPr/>
          <p:nvPr/>
        </p:nvSpPr>
        <p:spPr>
          <a:xfrm flipH="1">
            <a:off x="5525199" y="0"/>
            <a:ext cx="12762801" cy="10287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2505612" y="-2505612"/>
            <a:ext cx="11238816" cy="1625004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918972" y="-1700784"/>
            <a:ext cx="15979140" cy="1451016"/>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7547613" y="-30504"/>
            <a:ext cx="10740387" cy="10317504"/>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4" name="Rectangle 23">
            <a:extLst>
              <a:ext uri="{FF2B5EF4-FFF2-40B4-BE49-F238E27FC236}">
                <a16:creationId xmlns:a16="http://schemas.microsoft.com/office/drawing/2014/main" id="{B5B402F4-533A-849C-ACAD-039056A5D174}"/>
              </a:ext>
            </a:extLst>
          </p:cNvPr>
          <p:cNvSpPr/>
          <p:nvPr/>
        </p:nvSpPr>
        <p:spPr>
          <a:xfrm flipH="1">
            <a:off x="13442" y="4056869"/>
            <a:ext cx="18274557" cy="6230132"/>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B6F15528-21DE-4FAA-801E-634DDDAF4B2B}" type="slidenum">
              <a:rPr lang="en-US" smtClean="0"/>
              <a:pPr/>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411481" y="4057419"/>
            <a:ext cx="14701838" cy="5307807"/>
          </a:xfrm>
        </p:spPr>
        <p:txBody>
          <a:bodyPr anchor="b"/>
          <a:lstStyle>
            <a:lvl1pPr>
              <a:lnSpc>
                <a:spcPct val="100000"/>
              </a:lnSpc>
              <a:defRPr sz="8100"/>
            </a:lvl1pPr>
            <a:lvl2pPr>
              <a:lnSpc>
                <a:spcPct val="100000"/>
              </a:lnSpc>
              <a:defRPr sz="7200"/>
            </a:lvl2pPr>
            <a:lvl3pPr>
              <a:lnSpc>
                <a:spcPct val="100000"/>
              </a:lnSpc>
              <a:defRPr sz="6600"/>
            </a:lvl3pPr>
            <a:lvl4pPr>
              <a:lnSpc>
                <a:spcPct val="100000"/>
              </a:lnSpc>
              <a:defRPr sz="6000"/>
            </a:lvl4pPr>
            <a:lvl5pPr>
              <a:lnSpc>
                <a:spcPct val="100000"/>
              </a:lnSpc>
              <a:defRPr sz="54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3212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8288000" cy="10287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5792119"/>
            <a:ext cx="18288000" cy="4516166"/>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4000508" y="-4000494"/>
            <a:ext cx="10286994" cy="18287990"/>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6572250" y="-6560153"/>
            <a:ext cx="5143500" cy="18263805"/>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800350" y="7451677"/>
            <a:ext cx="12726162" cy="1578023"/>
          </a:xfrm>
        </p:spPr>
        <p:txBody>
          <a:bodyPr anchor="ctr">
            <a:normAutofit/>
          </a:bodyPr>
          <a:lstStyle>
            <a:lvl1pPr marL="205740" indent="-205740">
              <a:lnSpc>
                <a:spcPct val="100000"/>
              </a:lnSpc>
              <a:defRPr sz="3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8/28/2026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800350" y="2108579"/>
            <a:ext cx="12726162" cy="4631433"/>
          </a:xfrm>
        </p:spPr>
        <p:txBody>
          <a:bodyPr vert="horz" lIns="91440" tIns="45720" rIns="91440" bIns="45720" rtlCol="0" anchor="ctr">
            <a:noAutofit/>
          </a:bodyPr>
          <a:lstStyle>
            <a:lvl1pPr marL="0" indent="0">
              <a:lnSpc>
                <a:spcPct val="100000"/>
              </a:lnSpc>
              <a:buNone/>
              <a:defRPr lang="en-US" sz="6000" b="0" dirty="0">
                <a:solidFill>
                  <a:schemeClr val="tx1"/>
                </a:solidFill>
              </a:defRPr>
            </a:lvl1pPr>
            <a:lvl2pPr marL="342900" indent="0">
              <a:lnSpc>
                <a:spcPct val="100000"/>
              </a:lnSpc>
              <a:buNone/>
              <a:defRPr lang="en-US" sz="6000" b="0" dirty="0">
                <a:solidFill>
                  <a:schemeClr val="tx1"/>
                </a:solidFill>
              </a:defRPr>
            </a:lvl2pPr>
            <a:lvl3pPr marL="685800" indent="0">
              <a:lnSpc>
                <a:spcPct val="100000"/>
              </a:lnSpc>
              <a:buNone/>
              <a:defRPr lang="en-US" sz="6000" b="0" dirty="0">
                <a:solidFill>
                  <a:schemeClr val="tx1"/>
                </a:solidFill>
              </a:defRPr>
            </a:lvl3pPr>
            <a:lvl4pPr marL="1028700" indent="0">
              <a:lnSpc>
                <a:spcPct val="100000"/>
              </a:lnSpc>
              <a:buNone/>
              <a:defRPr lang="en-US" sz="6000" b="0" dirty="0">
                <a:solidFill>
                  <a:schemeClr val="tx1"/>
                </a:solidFill>
              </a:defRPr>
            </a:lvl4pPr>
            <a:lvl5pPr marL="1371600" indent="0">
              <a:lnSpc>
                <a:spcPct val="100000"/>
              </a:lnSpc>
              <a:buNone/>
              <a:defRPr lang="en-US" sz="54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3115928" y="7216221"/>
            <a:ext cx="12410585"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04755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143000"/>
            <a:ext cx="10519328" cy="2072148"/>
          </a:xfrm>
        </p:spPr>
        <p:txBody>
          <a:bodyPr anchor="t">
            <a:noAutofit/>
          </a:bodyPr>
          <a:lstStyle>
            <a:lvl1pPr>
              <a:defRPr sz="66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D8BD707-D9CF-40AE-B4C6-C98DA3205C09}" type="datetimeFigureOut">
              <a:rPr lang="en-US" smtClean="0"/>
              <a:pPr/>
              <a:t>8/28/2026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592074" y="4549455"/>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7147562" y="-853442"/>
            <a:ext cx="3992879" cy="18288003"/>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6774180" y="-1226823"/>
            <a:ext cx="4739640" cy="18288005"/>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54846" y="5143500"/>
            <a:ext cx="16757549" cy="369841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30920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7531385" y="-3645195"/>
            <a:ext cx="2737551" cy="1780032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3886186"/>
            <a:ext cx="18288000" cy="2737550"/>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143000"/>
            <a:ext cx="9143999" cy="2181759"/>
          </a:xfrm>
        </p:spPr>
        <p:txBody>
          <a:bodyPr anchor="t">
            <a:normAutofit/>
          </a:bodyPr>
          <a:lstStyle>
            <a:lvl1pPr>
              <a:defRPr sz="81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1D8BD707-D9CF-40AE-B4C6-C98DA3205C09}" type="datetimeFigureOut">
              <a:rPr lang="en-US" smtClean="0"/>
              <a:pPr/>
              <a:t>8/28/2026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B6F15528-21DE-4FAA-801E-634DDDAF4B2B}" type="slidenum">
              <a:rPr lang="en-US" smtClean="0"/>
              <a:pPr/>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0001" y="5006341"/>
            <a:ext cx="5392757" cy="4242872"/>
          </a:xfrm>
        </p:spPr>
        <p:txBody>
          <a:bodyPr vert="horz" lIns="91440" tIns="45720" rIns="91440" bIns="45720" rtlCol="0">
            <a:normAutofit/>
          </a:bodyPr>
          <a:lstStyle>
            <a:lvl1pPr marL="0" indent="0">
              <a:buNone/>
              <a:defRPr lang="en-US" sz="2700" dirty="0"/>
            </a:lvl1pPr>
            <a:lvl2pPr marL="342900" indent="0">
              <a:buNone/>
              <a:defRPr lang="en-US" sz="2100" dirty="0"/>
            </a:lvl2pPr>
            <a:lvl3pPr marL="685800" indent="0">
              <a:buNone/>
              <a:defRPr lang="en-US" sz="1800" dirty="0"/>
            </a:lvl3pPr>
            <a:lvl4pPr marL="1028700" indent="0">
              <a:buNone/>
              <a:defRPr lang="en-US" sz="1650" dirty="0"/>
            </a:lvl4pPr>
            <a:lvl5pPr marL="1371600" indent="0">
              <a:buNone/>
              <a:defRPr lang="en-US" sz="1575"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0802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097281"/>
            <a:ext cx="16287750" cy="1038584"/>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1D8BD707-D9CF-40AE-B4C6-C98DA3205C09}" type="datetimeFigureOut">
              <a:rPr lang="en-US" smtClean="0"/>
              <a:pPr/>
              <a:t>8/28/2026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B6F15528-21DE-4FAA-801E-634DDDAF4B2B}" type="slidenum">
              <a:rPr lang="en-US" smtClean="0"/>
              <a:pPr/>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452438" y="2709862"/>
            <a:ext cx="7748588" cy="687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10085837" y="2709862"/>
            <a:ext cx="7486650" cy="687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592074" y="237744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125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1" y="1"/>
            <a:ext cx="18287999" cy="2006600"/>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2628" y="1097280"/>
            <a:ext cx="17378172" cy="993093"/>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1D8BD707-D9CF-40AE-B4C6-C98DA3205C09}" type="datetimeFigureOut">
              <a:rPr lang="en-US" smtClean="0"/>
              <a:pPr/>
              <a:t>8/28/2026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B6F15528-21DE-4FAA-801E-634DDDAF4B2B}"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2628" y="2663669"/>
            <a:ext cx="7749540" cy="960120"/>
          </a:xfrm>
        </p:spPr>
        <p:txBody>
          <a:bodyPr anchor="ctr" anchorCtr="0">
            <a:normAutofit/>
          </a:bodyPr>
          <a:lstStyle>
            <a:lvl1pPr marL="0" indent="0">
              <a:lnSpc>
                <a:spcPct val="90000"/>
              </a:lnSpc>
              <a:buNone/>
              <a:defRPr sz="2400" b="1" cap="none"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452438" y="3738721"/>
            <a:ext cx="7748588" cy="5850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10081260" y="2663666"/>
            <a:ext cx="7749540" cy="960120"/>
          </a:xfrm>
        </p:spPr>
        <p:txBody>
          <a:bodyPr anchor="ctr" anchorCtr="0">
            <a:normAutofit/>
          </a:bodyPr>
          <a:lstStyle>
            <a:lvl1pPr marL="0" indent="0">
              <a:lnSpc>
                <a:spcPct val="90000"/>
              </a:lnSpc>
              <a:buNone/>
              <a:defRPr sz="2400" b="1" cap="none"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10085836" y="3738721"/>
            <a:ext cx="7772861" cy="5850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592074" y="2369901"/>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1" y="1"/>
            <a:ext cx="18287999" cy="2006600"/>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7654976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2628" y="1508760"/>
            <a:ext cx="14859000" cy="1201563"/>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D8BD707-D9CF-40AE-B4C6-C98DA3205C09}" type="datetimeFigureOut">
              <a:rPr lang="en-US" smtClean="0"/>
              <a:pPr/>
              <a:t>8/28/2026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16891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D8BD707-D9CF-40AE-B4C6-C98DA3205C09}" type="datetimeFigureOut">
              <a:rPr lang="en-US" smtClean="0"/>
              <a:pPr/>
              <a:t>8/28/2026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8046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2628" y="1303710"/>
            <a:ext cx="17406069" cy="145380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2628" y="315171"/>
            <a:ext cx="2638932" cy="548640"/>
          </a:xfrm>
          <a:prstGeom prst="rect">
            <a:avLst/>
          </a:prstGeom>
        </p:spPr>
        <p:txBody>
          <a:bodyPr vert="horz" lIns="91440" tIns="45720" rIns="91440" bIns="45720" rtlCol="0" anchor="ctr"/>
          <a:lstStyle>
            <a:lvl1pPr algn="l" rtl="0">
              <a:defRPr sz="1200" cap="none" spc="0" baseline="0">
                <a:solidFill>
                  <a:schemeClr val="tx1"/>
                </a:solidFill>
              </a:defRPr>
            </a:lvl1pPr>
          </a:lstStyle>
          <a:p>
            <a:fld id="{1D8BD707-D9CF-40AE-B4C6-C98DA3205C09}" type="datetimeFigureOut">
              <a:rPr lang="en-US" smtClean="0"/>
              <a:pPr/>
              <a:t>8/28/2026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1433728" y="315171"/>
            <a:ext cx="3763926" cy="548640"/>
          </a:xfrm>
          <a:prstGeom prst="rect">
            <a:avLst/>
          </a:prstGeom>
        </p:spPr>
        <p:txBody>
          <a:bodyPr vert="horz" lIns="91440" tIns="45720" rIns="91440" bIns="45720" rtlCol="0" anchor="ctr"/>
          <a:lstStyle>
            <a:lvl1pPr algn="l" rtl="0">
              <a:defRPr sz="12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6950485" y="315171"/>
            <a:ext cx="908213" cy="548640"/>
          </a:xfrm>
          <a:prstGeom prst="rect">
            <a:avLst/>
          </a:prstGeom>
        </p:spPr>
        <p:txBody>
          <a:bodyPr vert="horz" lIns="91440" tIns="45720" rIns="91440" bIns="45720" rtlCol="0" anchor="ctr"/>
          <a:lstStyle>
            <a:lvl1pPr algn="r" rtl="0">
              <a:defRPr sz="1200" cap="none" spc="0" baseline="0">
                <a:solidFill>
                  <a:schemeClr val="tx1"/>
                </a:solidFill>
              </a:defRPr>
            </a:lvl1pPr>
          </a:lstStyle>
          <a:p>
            <a:fld id="{B6F15528-21DE-4FAA-801E-634DDDAF4B2B}"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2628" y="3070927"/>
            <a:ext cx="17406069" cy="63519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592074" y="1126970"/>
            <a:ext cx="17103852"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035625"/>
      </p:ext>
    </p:extLst>
  </p:cSld>
  <p:clrMap bg1="dk1" tx1="lt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Lst>
  <p:txStyles>
    <p:titleStyle>
      <a:lvl1pPr algn="l" defTabSz="1371600" rtl="0" eaLnBrk="1" latinLnBrk="0" hangingPunct="1">
        <a:lnSpc>
          <a:spcPct val="85000"/>
        </a:lnSpc>
        <a:spcBef>
          <a:spcPct val="0"/>
        </a:spcBef>
        <a:buNone/>
        <a:defRPr sz="4200" b="0" kern="1200" spc="0" baseline="0">
          <a:solidFill>
            <a:schemeClr val="tx1"/>
          </a:solidFill>
          <a:latin typeface="+mj-lt"/>
          <a:ea typeface="+mj-ea"/>
          <a:cs typeface="+mj-cs"/>
        </a:defRPr>
      </a:lvl1pPr>
    </p:titleStyle>
    <p:bodyStyle>
      <a:lvl1pPr marL="0" indent="0" algn="l" defTabSz="1371600" rtl="0" eaLnBrk="1" latinLnBrk="0" hangingPunct="1">
        <a:lnSpc>
          <a:spcPct val="120000"/>
        </a:lnSpc>
        <a:spcBef>
          <a:spcPts val="1500"/>
        </a:spcBef>
        <a:buFont typeface="Arial" panose="020B0604020202020204" pitchFamily="34" charset="0"/>
        <a:buNone/>
        <a:defRPr sz="2100" kern="1200" spc="0">
          <a:solidFill>
            <a:schemeClr val="tx1"/>
          </a:solidFill>
          <a:latin typeface="+mn-lt"/>
          <a:ea typeface="+mn-ea"/>
          <a:cs typeface="+mn-cs"/>
        </a:defRPr>
      </a:lvl1pPr>
      <a:lvl2pPr marL="3429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2pPr>
      <a:lvl3pPr marL="6858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3pPr>
      <a:lvl4pPr marL="10287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4pPr>
      <a:lvl5pPr marL="13716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27.xml"/><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grpSp>
        <p:nvGrpSpPr>
          <p:cNvPr id="6" name="Group 6"/>
          <p:cNvGrpSpPr/>
          <p:nvPr/>
        </p:nvGrpSpPr>
        <p:grpSpPr>
          <a:xfrm>
            <a:off x="0" y="0"/>
            <a:ext cx="18301840" cy="10295039"/>
            <a:chOff x="0" y="0"/>
            <a:chExt cx="24402453" cy="13726719"/>
          </a:xfrm>
        </p:grpSpPr>
        <p:sp>
          <p:nvSpPr>
            <p:cNvPr id="7" name="Freeform 7" descr="preencoded.png"/>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lnTo>
                    <a:pt x="0" y="0"/>
                  </a:lnTo>
                  <a:close/>
                </a:path>
              </a:pathLst>
            </a:custGeom>
            <a:blipFill>
              <a:blip r:embed="rId2"/>
              <a:stretch>
                <a:fillRect l="-1" r="-1"/>
              </a:stretch>
            </a:blipFill>
          </p:spPr>
        </p:sp>
      </p:grpSp>
      <p:grpSp>
        <p:nvGrpSpPr>
          <p:cNvPr id="8" name="Group 8"/>
          <p:cNvGrpSpPr/>
          <p:nvPr/>
        </p:nvGrpSpPr>
        <p:grpSpPr>
          <a:xfrm>
            <a:off x="-13840" y="0"/>
            <a:ext cx="18301840" cy="10295039"/>
            <a:chOff x="0" y="0"/>
            <a:chExt cx="24402453" cy="13726719"/>
          </a:xfrm>
        </p:grpSpPr>
        <p:sp>
          <p:nvSpPr>
            <p:cNvPr id="9" name="Freeform 9"/>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alpha val="63922"/>
              </a:srgbClr>
            </a:solidFill>
          </p:spPr>
        </p:sp>
      </p:grpSp>
      <p:sp>
        <p:nvSpPr>
          <p:cNvPr id="10" name="TextBox 10"/>
          <p:cNvSpPr txBox="1"/>
          <p:nvPr/>
        </p:nvSpPr>
        <p:spPr>
          <a:xfrm>
            <a:off x="1080859" y="847058"/>
            <a:ext cx="16140112" cy="834524"/>
          </a:xfrm>
          <a:prstGeom prst="rect">
            <a:avLst/>
          </a:prstGeom>
        </p:spPr>
        <p:txBody>
          <a:bodyPr lIns="0" tIns="0" rIns="0" bIns="0" rtlCol="0" anchor="t">
            <a:spAutoFit/>
          </a:bodyPr>
          <a:lstStyle/>
          <a:p>
            <a:pPr algn="l">
              <a:lnSpc>
                <a:spcPts val="6838"/>
              </a:lnSpc>
            </a:pPr>
            <a:r>
              <a:rPr lang="en-US" sz="5479" dirty="0">
                <a:solidFill>
                  <a:srgbClr val="F98AC7"/>
                </a:solidFill>
                <a:latin typeface="Lora"/>
                <a:ea typeface="Lora"/>
                <a:cs typeface="Lora"/>
                <a:sym typeface="Lora"/>
              </a:rPr>
              <a:t>Internship Project Presentation</a:t>
            </a:r>
          </a:p>
        </p:txBody>
      </p:sp>
      <p:sp>
        <p:nvSpPr>
          <p:cNvPr id="11" name="TextBox 11"/>
          <p:cNvSpPr txBox="1"/>
          <p:nvPr/>
        </p:nvSpPr>
        <p:spPr>
          <a:xfrm>
            <a:off x="1080859" y="2095119"/>
            <a:ext cx="17055208" cy="474489"/>
          </a:xfrm>
          <a:prstGeom prst="rect">
            <a:avLst/>
          </a:prstGeom>
        </p:spPr>
        <p:txBody>
          <a:bodyPr lIns="0" tIns="0" rIns="0" bIns="0" rtlCol="0" anchor="t">
            <a:spAutoFit/>
          </a:bodyPr>
          <a:lstStyle/>
          <a:p>
            <a:pPr algn="l">
              <a:lnSpc>
                <a:spcPts val="3657"/>
              </a:lnSpc>
            </a:pPr>
            <a:r>
              <a:rPr lang="en-US" sz="2800" dirty="0">
                <a:solidFill>
                  <a:srgbClr val="D6E5EF"/>
                </a:solidFill>
                <a:latin typeface="Source Sans 3"/>
                <a:ea typeface="Source Sans 3"/>
                <a:cs typeface="Source Sans 3"/>
                <a:sym typeface="Source Sans 3"/>
              </a:rPr>
              <a:t> A Field-Based Assessment of Welfare Activity Challenges</a:t>
            </a:r>
          </a:p>
        </p:txBody>
      </p:sp>
      <p:sp>
        <p:nvSpPr>
          <p:cNvPr id="12" name="TextBox 12"/>
          <p:cNvSpPr txBox="1"/>
          <p:nvPr/>
        </p:nvSpPr>
        <p:spPr>
          <a:xfrm>
            <a:off x="1080859" y="3067822"/>
            <a:ext cx="16140112" cy="1380186"/>
          </a:xfrm>
          <a:prstGeom prst="rect">
            <a:avLst/>
          </a:prstGeom>
        </p:spPr>
        <p:txBody>
          <a:bodyPr lIns="0" tIns="0" rIns="0" bIns="0" rtlCol="0" anchor="t">
            <a:spAutoFit/>
          </a:bodyPr>
          <a:lstStyle/>
          <a:p>
            <a:pPr algn="l">
              <a:lnSpc>
                <a:spcPts val="5526"/>
              </a:lnSpc>
            </a:pPr>
            <a:br>
              <a:rPr lang="en-US" sz="4428" b="1" dirty="0">
                <a:solidFill>
                  <a:srgbClr val="F98AC7"/>
                </a:solidFill>
                <a:latin typeface="Lora Bold"/>
                <a:ea typeface="Lora Bold"/>
                <a:cs typeface="Lora Bold"/>
                <a:sym typeface="Lora Bold"/>
              </a:rPr>
            </a:br>
            <a:r>
              <a:rPr lang="en-US" sz="4428" b="1" dirty="0">
                <a:solidFill>
                  <a:srgbClr val="F98AC7"/>
                </a:solidFill>
                <a:latin typeface="Lora Bold"/>
                <a:ea typeface="Lora Bold"/>
                <a:cs typeface="Lora Bold"/>
                <a:sym typeface="Lora Bold"/>
              </a:rPr>
              <a:t>Shri Ram Darbar Trust </a:t>
            </a:r>
          </a:p>
        </p:txBody>
      </p:sp>
      <p:sp>
        <p:nvSpPr>
          <p:cNvPr id="13" name="TextBox 13"/>
          <p:cNvSpPr txBox="1"/>
          <p:nvPr/>
        </p:nvSpPr>
        <p:spPr>
          <a:xfrm>
            <a:off x="1080859" y="4139832"/>
            <a:ext cx="16140112" cy="4241289"/>
          </a:xfrm>
          <a:prstGeom prst="rect">
            <a:avLst/>
          </a:prstGeom>
        </p:spPr>
        <p:txBody>
          <a:bodyPr lIns="0" tIns="0" rIns="0" bIns="0" rtlCol="0" anchor="t">
            <a:spAutoFit/>
          </a:bodyPr>
          <a:lstStyle/>
          <a:p>
            <a:pPr algn="l">
              <a:lnSpc>
                <a:spcPts val="3657"/>
              </a:lnSpc>
            </a:pPr>
            <a:br>
              <a:rPr lang="en-US" sz="2326" dirty="0">
                <a:solidFill>
                  <a:srgbClr val="D6E5EF"/>
                </a:solidFill>
                <a:latin typeface="Source Sans 3"/>
                <a:ea typeface="Source Sans 3"/>
                <a:cs typeface="Source Sans 3"/>
                <a:sym typeface="Source Sans 3"/>
              </a:rPr>
            </a:br>
            <a:br>
              <a:rPr lang="en-US" sz="2326" dirty="0">
                <a:solidFill>
                  <a:srgbClr val="D6E5EF"/>
                </a:solidFill>
                <a:latin typeface="Source Sans 3"/>
                <a:ea typeface="Source Sans 3"/>
                <a:cs typeface="Source Sans 3"/>
                <a:sym typeface="Source Sans 3"/>
              </a:rPr>
            </a:br>
            <a:r>
              <a:rPr lang="en-US" sz="2326" dirty="0">
                <a:solidFill>
                  <a:srgbClr val="D6E5EF"/>
                </a:solidFill>
                <a:latin typeface="Source Sans 3"/>
                <a:ea typeface="Source Sans 3"/>
                <a:cs typeface="Source Sans 3"/>
                <a:sym typeface="Source Sans 3"/>
              </a:rPr>
              <a:t>STUDENT                                                        Shivesh Sharma</a:t>
            </a:r>
          </a:p>
          <a:p>
            <a:pPr algn="l">
              <a:lnSpc>
                <a:spcPts val="3657"/>
              </a:lnSpc>
            </a:pPr>
            <a:r>
              <a:rPr lang="en-US" sz="2326" dirty="0">
                <a:solidFill>
                  <a:srgbClr val="D6E5EF"/>
                </a:solidFill>
                <a:latin typeface="Source Sans 3"/>
                <a:ea typeface="Source Sans 3"/>
                <a:cs typeface="Source Sans 3"/>
                <a:sym typeface="Source Sans 3"/>
              </a:rPr>
              <a:t>ROLL  NUMBER                                             25SCS1003001052</a:t>
            </a:r>
          </a:p>
          <a:p>
            <a:pPr algn="l">
              <a:lnSpc>
                <a:spcPts val="3657"/>
              </a:lnSpc>
            </a:pPr>
            <a:r>
              <a:rPr lang="en-US" sz="2326" dirty="0">
                <a:solidFill>
                  <a:srgbClr val="D6E5EF"/>
                </a:solidFill>
                <a:latin typeface="Source Sans 3"/>
                <a:ea typeface="Source Sans 3"/>
                <a:cs typeface="Source Sans 3"/>
                <a:sym typeface="Source Sans 3"/>
              </a:rPr>
              <a:t>PROGRAM                                                       </a:t>
            </a:r>
            <a:r>
              <a:rPr lang="en-US" sz="2326" dirty="0" err="1">
                <a:solidFill>
                  <a:srgbClr val="D6E5EF"/>
                </a:solidFill>
                <a:latin typeface="Source Sans 3"/>
                <a:ea typeface="Source Sans 3"/>
                <a:cs typeface="Source Sans 3"/>
                <a:sym typeface="Source Sans 3"/>
              </a:rPr>
              <a:t>B.Tech</a:t>
            </a:r>
            <a:r>
              <a:rPr lang="en-US" sz="2326" dirty="0">
                <a:solidFill>
                  <a:srgbClr val="D6E5EF"/>
                </a:solidFill>
                <a:latin typeface="Source Sans 3"/>
                <a:ea typeface="Source Sans 3"/>
                <a:cs typeface="Source Sans 3"/>
                <a:sym typeface="Source Sans 3"/>
              </a:rPr>
              <a:t> Computer Science &amp; Engineering</a:t>
            </a:r>
          </a:p>
          <a:p>
            <a:pPr algn="l">
              <a:lnSpc>
                <a:spcPts val="3657"/>
              </a:lnSpc>
            </a:pPr>
            <a:r>
              <a:rPr lang="en-US" sz="2326" dirty="0">
                <a:solidFill>
                  <a:srgbClr val="D6E5EF"/>
                </a:solidFill>
                <a:latin typeface="Source Sans 3"/>
                <a:ea typeface="Source Sans 3"/>
                <a:cs typeface="Source Sans 3"/>
                <a:sym typeface="Source Sans 3"/>
              </a:rPr>
              <a:t>UNIVERSITY                                                    IILM University, Greater Noida, U.P.</a:t>
            </a:r>
          </a:p>
          <a:p>
            <a:pPr algn="l">
              <a:lnSpc>
                <a:spcPts val="3657"/>
              </a:lnSpc>
            </a:pPr>
            <a:r>
              <a:rPr lang="en-US" sz="2326">
                <a:solidFill>
                  <a:srgbClr val="D6E5EF"/>
                </a:solidFill>
                <a:latin typeface="Source Sans 3"/>
                <a:ea typeface="Source Sans 3"/>
                <a:cs typeface="Source Sans 3"/>
                <a:sym typeface="Source Sans 3"/>
              </a:rPr>
              <a:t>ORGANIZATION                                            Shri </a:t>
            </a:r>
            <a:r>
              <a:rPr lang="en-US" sz="2326" dirty="0">
                <a:solidFill>
                  <a:srgbClr val="D6E5EF"/>
                </a:solidFill>
                <a:latin typeface="Source Sans 3"/>
                <a:ea typeface="Source Sans 3"/>
                <a:cs typeface="Source Sans 3"/>
                <a:sym typeface="Source Sans 3"/>
              </a:rPr>
              <a:t>Ram Darbar Trust</a:t>
            </a:r>
          </a:p>
          <a:p>
            <a:pPr algn="l">
              <a:lnSpc>
                <a:spcPts val="3657"/>
              </a:lnSpc>
            </a:pPr>
            <a:r>
              <a:rPr lang="en-US" sz="2326" dirty="0">
                <a:solidFill>
                  <a:srgbClr val="D6E5EF"/>
                </a:solidFill>
                <a:latin typeface="Source Sans 3"/>
                <a:ea typeface="Source Sans 3"/>
                <a:cs typeface="Source Sans 3"/>
                <a:sym typeface="Source Sans 3"/>
              </a:rPr>
              <a:t>SUPERVISOR                                                 Mr. Neeraj Sharma</a:t>
            </a:r>
          </a:p>
          <a:p>
            <a:pPr algn="l">
              <a:lnSpc>
                <a:spcPts val="3657"/>
              </a:lnSpc>
            </a:pPr>
            <a:endParaRPr lang="en-US" sz="2326" dirty="0">
              <a:solidFill>
                <a:srgbClr val="D6E5EF"/>
              </a:solidFill>
              <a:latin typeface="Source Sans 3"/>
              <a:ea typeface="Source Sans 3"/>
              <a:cs typeface="Source Sans 3"/>
              <a:sym typeface="Source Sans 3"/>
            </a:endParaRPr>
          </a:p>
        </p:txBody>
      </p:sp>
      <p:sp>
        <p:nvSpPr>
          <p:cNvPr id="15" name="TextBox 15"/>
          <p:cNvSpPr txBox="1"/>
          <p:nvPr/>
        </p:nvSpPr>
        <p:spPr>
          <a:xfrm>
            <a:off x="1080859" y="6805936"/>
            <a:ext cx="16140112" cy="445378"/>
          </a:xfrm>
          <a:prstGeom prst="rect">
            <a:avLst/>
          </a:prstGeom>
        </p:spPr>
        <p:txBody>
          <a:bodyPr lIns="0" tIns="0" rIns="0" bIns="0" rtlCol="0" anchor="t">
            <a:spAutoFit/>
          </a:bodyPr>
          <a:lstStyle/>
          <a:p>
            <a:pPr algn="l">
              <a:lnSpc>
                <a:spcPts val="3657"/>
              </a:lnSpc>
            </a:pPr>
            <a:endParaRPr lang="en-US" sz="2326" b="1" dirty="0">
              <a:solidFill>
                <a:srgbClr val="D6E5EF"/>
              </a:solidFill>
              <a:latin typeface="Source Sans 3 Bold"/>
              <a:ea typeface="Source Sans 3 Bold"/>
              <a:cs typeface="Source Sans 3 Bold"/>
              <a:sym typeface="Source Sans 3 Bold"/>
            </a:endParaRPr>
          </a:p>
        </p:txBody>
      </p:sp>
      <p:pic>
        <p:nvPicPr>
          <p:cNvPr id="17" name="Picture 16">
            <a:extLst>
              <a:ext uri="{FF2B5EF4-FFF2-40B4-BE49-F238E27FC236}">
                <a16:creationId xmlns:a16="http://schemas.microsoft.com/office/drawing/2014/main" id="{26F31940-9DD5-DF56-D553-7778282F5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70046" y="607390"/>
            <a:ext cx="1876425" cy="2000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830228"/>
            <a:ext cx="16140112" cy="473326"/>
          </a:xfrm>
          <a:prstGeom prst="rect">
            <a:avLst/>
          </a:prstGeom>
        </p:spPr>
        <p:txBody>
          <a:bodyPr lIns="0" tIns="0" rIns="0" bIns="0" rtlCol="0" anchor="t">
            <a:spAutoFit/>
          </a:bodyPr>
          <a:lstStyle/>
          <a:p>
            <a:pPr algn="l">
              <a:lnSpc>
                <a:spcPts val="3559"/>
              </a:lnSpc>
            </a:pPr>
            <a:r>
              <a:rPr lang="en-US" sz="2852">
                <a:solidFill>
                  <a:srgbClr val="F98AC7"/>
                </a:solidFill>
                <a:latin typeface="Lora"/>
                <a:ea typeface="Lora"/>
                <a:cs typeface="Lora"/>
                <a:sym typeface="Lora"/>
              </a:rPr>
              <a:t>Shri Ram Darbar Trust, Muzaffarnagar</a:t>
            </a:r>
          </a:p>
        </p:txBody>
      </p:sp>
      <p:sp>
        <p:nvSpPr>
          <p:cNvPr id="7" name="TextBox 7"/>
          <p:cNvSpPr txBox="1"/>
          <p:nvPr/>
        </p:nvSpPr>
        <p:spPr>
          <a:xfrm>
            <a:off x="1080859" y="1457868"/>
            <a:ext cx="16140112" cy="642699"/>
          </a:xfrm>
          <a:prstGeom prst="rect">
            <a:avLst/>
          </a:prstGeom>
        </p:spPr>
        <p:txBody>
          <a:bodyPr lIns="0" tIns="0" rIns="0" bIns="0" rtlCol="0" anchor="t">
            <a:spAutoFit/>
          </a:bodyPr>
          <a:lstStyle/>
          <a:p>
            <a:pPr algn="l">
              <a:lnSpc>
                <a:spcPts val="1441"/>
              </a:lnSpc>
            </a:pPr>
            <a:r>
              <a:rPr lang="en-US" sz="1200">
                <a:solidFill>
                  <a:srgbClr val="D6E5EF"/>
                </a:solidFill>
                <a:latin typeface="Source Sans 3"/>
                <a:ea typeface="Source Sans 3"/>
                <a:cs typeface="Source Sans 3"/>
                <a:sym typeface="Source Sans 3"/>
              </a:rPr>
              <a:t>June 4 - July 5, 2026</a:t>
            </a:r>
          </a:p>
          <a:p>
            <a:pPr algn="l">
              <a:lnSpc>
                <a:spcPts val="1441"/>
              </a:lnSpc>
            </a:pPr>
            <a:r>
              <a:rPr lang="en-US" sz="1200">
                <a:solidFill>
                  <a:srgbClr val="D6E5EF"/>
                </a:solidFill>
                <a:latin typeface="Source Sans 3"/>
                <a:ea typeface="Source Sans 3"/>
                <a:cs typeface="Source Sans 3"/>
                <a:sym typeface="Source Sans 3"/>
              </a:rPr>
              <a:t>Shri Ram Darbar Trust is a non-governmental organization based in Muzaffarnagar, Uttar Pradesh, dedicated to serving the underprivileged and vulnerable members of society. The Trust operates with a mission to provide essential support — including food, clothing, and blankets — to those in need, while also extending care to animals through its dedicated programs and dairy farm.</a:t>
            </a:r>
          </a:p>
        </p:txBody>
      </p:sp>
      <p:grpSp>
        <p:nvGrpSpPr>
          <p:cNvPr id="8" name="Group 8"/>
          <p:cNvGrpSpPr/>
          <p:nvPr/>
        </p:nvGrpSpPr>
        <p:grpSpPr>
          <a:xfrm>
            <a:off x="1080859" y="2187397"/>
            <a:ext cx="16140112" cy="9038549"/>
            <a:chOff x="0" y="0"/>
            <a:chExt cx="21520150" cy="12051398"/>
          </a:xfrm>
        </p:grpSpPr>
        <p:sp>
          <p:nvSpPr>
            <p:cNvPr id="9" name="Freeform 9" descr="preencoded.png"/>
            <p:cNvSpPr/>
            <p:nvPr/>
          </p:nvSpPr>
          <p:spPr>
            <a:xfrm>
              <a:off x="0" y="0"/>
              <a:ext cx="21520150" cy="12051411"/>
            </a:xfrm>
            <a:custGeom>
              <a:avLst/>
              <a:gdLst/>
              <a:ahLst/>
              <a:cxnLst/>
              <a:rect l="l" t="t" r="r" b="b"/>
              <a:pathLst>
                <a:path w="21520150" h="12051411">
                  <a:moveTo>
                    <a:pt x="0" y="0"/>
                  </a:moveTo>
                  <a:lnTo>
                    <a:pt x="21520150" y="0"/>
                  </a:lnTo>
                  <a:lnTo>
                    <a:pt x="21520150" y="12051411"/>
                  </a:lnTo>
                  <a:lnTo>
                    <a:pt x="0" y="12051411"/>
                  </a:lnTo>
                  <a:lnTo>
                    <a:pt x="0" y="0"/>
                  </a:lnTo>
                  <a:close/>
                </a:path>
              </a:pathLst>
            </a:custGeom>
            <a:blipFill>
              <a:blip r:embed="rId2"/>
              <a:stretch>
                <a:fillRect t="-18" b="-18"/>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3367507"/>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Providing Clothes &amp; Blankets</a:t>
            </a:r>
          </a:p>
        </p:txBody>
      </p:sp>
      <p:sp>
        <p:nvSpPr>
          <p:cNvPr id="7" name="TextBox 7"/>
          <p:cNvSpPr txBox="1"/>
          <p:nvPr/>
        </p:nvSpPr>
        <p:spPr>
          <a:xfrm>
            <a:off x="1080859" y="4826765"/>
            <a:ext cx="16140112"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One of the core initiatives of Shri Ram Darbar Trust is the distribution of clothes and blankets to people in need. The Trust collects and distributes warm clothing and blankets, especially during the winter months, to ensure that no one in the community is left without protection from the cold. This program reaches out to the most vulnerable — including the elderly, children, and families living in poverty — providing them with dignity and comfort through essential clothing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2025072"/>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Food Distribution Program</a:t>
            </a:r>
          </a:p>
        </p:txBody>
      </p:sp>
      <p:grpSp>
        <p:nvGrpSpPr>
          <p:cNvPr id="7" name="Group 7"/>
          <p:cNvGrpSpPr/>
          <p:nvPr/>
        </p:nvGrpSpPr>
        <p:grpSpPr>
          <a:xfrm>
            <a:off x="858498" y="3425123"/>
            <a:ext cx="8138122" cy="3480540"/>
            <a:chOff x="0" y="0"/>
            <a:chExt cx="10850829" cy="4640720"/>
          </a:xfrm>
        </p:grpSpPr>
        <p:sp>
          <p:nvSpPr>
            <p:cNvPr id="8" name="Freeform 8"/>
            <p:cNvSpPr/>
            <p:nvPr/>
          </p:nvSpPr>
          <p:spPr>
            <a:xfrm>
              <a:off x="0" y="0"/>
              <a:ext cx="10850753" cy="4640707"/>
            </a:xfrm>
            <a:custGeom>
              <a:avLst/>
              <a:gdLst/>
              <a:ahLst/>
              <a:cxnLst/>
              <a:rect l="l" t="t" r="r" b="b"/>
              <a:pathLst>
                <a:path w="10850753" h="4640707">
                  <a:moveTo>
                    <a:pt x="0" y="61722"/>
                  </a:moveTo>
                  <a:cubicBezTo>
                    <a:pt x="0" y="27686"/>
                    <a:pt x="27686" y="0"/>
                    <a:pt x="61722" y="0"/>
                  </a:cubicBezTo>
                  <a:lnTo>
                    <a:pt x="10789031" y="0"/>
                  </a:lnTo>
                  <a:cubicBezTo>
                    <a:pt x="10823194" y="0"/>
                    <a:pt x="10850753" y="27686"/>
                    <a:pt x="10850753" y="61722"/>
                  </a:cubicBezTo>
                  <a:lnTo>
                    <a:pt x="10850753" y="4578985"/>
                  </a:lnTo>
                  <a:cubicBezTo>
                    <a:pt x="10850753" y="4613148"/>
                    <a:pt x="10823067" y="4640707"/>
                    <a:pt x="10789031" y="4640707"/>
                  </a:cubicBezTo>
                  <a:lnTo>
                    <a:pt x="61722" y="4640707"/>
                  </a:lnTo>
                  <a:cubicBezTo>
                    <a:pt x="27559" y="4640707"/>
                    <a:pt x="0" y="4613021"/>
                    <a:pt x="0" y="4578985"/>
                  </a:cubicBezTo>
                  <a:close/>
                </a:path>
              </a:pathLst>
            </a:custGeom>
            <a:solidFill>
              <a:srgbClr val="F98AC7"/>
            </a:solidFill>
          </p:spPr>
        </p:sp>
      </p:grpSp>
      <p:sp>
        <p:nvSpPr>
          <p:cNvPr id="9" name="TextBox 9"/>
          <p:cNvSpPr txBox="1"/>
          <p:nvPr/>
        </p:nvSpPr>
        <p:spPr>
          <a:xfrm>
            <a:off x="1167251" y="3714836"/>
            <a:ext cx="7520616" cy="473326"/>
          </a:xfrm>
          <a:prstGeom prst="rect">
            <a:avLst/>
          </a:prstGeom>
        </p:spPr>
        <p:txBody>
          <a:bodyPr lIns="0" tIns="0" rIns="0" bIns="0" rtlCol="0" anchor="t">
            <a:spAutoFit/>
          </a:bodyPr>
          <a:lstStyle/>
          <a:p>
            <a:pPr algn="l">
              <a:lnSpc>
                <a:spcPts val="3559"/>
              </a:lnSpc>
            </a:pPr>
            <a:r>
              <a:rPr lang="en-US" sz="2852">
                <a:solidFill>
                  <a:srgbClr val="000000"/>
                </a:solidFill>
                <a:latin typeface="Lora"/>
                <a:ea typeface="Lora"/>
                <a:cs typeface="Lora"/>
                <a:sym typeface="Lora"/>
              </a:rPr>
              <a:t>Our Mission</a:t>
            </a:r>
          </a:p>
        </p:txBody>
      </p:sp>
      <p:sp>
        <p:nvSpPr>
          <p:cNvPr id="10" name="TextBox 10"/>
          <p:cNvSpPr txBox="1"/>
          <p:nvPr/>
        </p:nvSpPr>
        <p:spPr>
          <a:xfrm>
            <a:off x="1167251" y="4401683"/>
            <a:ext cx="7520616" cy="2072040"/>
          </a:xfrm>
          <a:prstGeom prst="rect">
            <a:avLst/>
          </a:prstGeom>
        </p:spPr>
        <p:txBody>
          <a:bodyPr lIns="0" tIns="0" rIns="0" bIns="0" rtlCol="0" anchor="t">
            <a:spAutoFit/>
          </a:bodyPr>
          <a:lstStyle/>
          <a:p>
            <a:pPr algn="l">
              <a:lnSpc>
                <a:spcPts val="3833"/>
              </a:lnSpc>
            </a:pPr>
            <a:r>
              <a:rPr lang="en-US" sz="2401">
                <a:solidFill>
                  <a:srgbClr val="000000"/>
                </a:solidFill>
                <a:latin typeface="Source Sans 3"/>
                <a:ea typeface="Source Sans 3"/>
                <a:cs typeface="Source Sans 3"/>
                <a:sym typeface="Source Sans 3"/>
              </a:rPr>
              <a:t>Ensuring that no one in our community goes to bed hungry. The Trust regularly organizes food distribution drives to provide nutritious meals to those who need them most.</a:t>
            </a:r>
          </a:p>
        </p:txBody>
      </p:sp>
      <p:sp>
        <p:nvSpPr>
          <p:cNvPr id="11" name="TextBox 11"/>
          <p:cNvSpPr txBox="1"/>
          <p:nvPr/>
        </p:nvSpPr>
        <p:spPr>
          <a:xfrm>
            <a:off x="9537125" y="3714836"/>
            <a:ext cx="7693390" cy="473326"/>
          </a:xfrm>
          <a:prstGeom prst="rect">
            <a:avLst/>
          </a:prstGeom>
        </p:spPr>
        <p:txBody>
          <a:bodyPr lIns="0" tIns="0" rIns="0" bIns="0" rtlCol="0" anchor="t">
            <a:spAutoFit/>
          </a:bodyPr>
          <a:lstStyle/>
          <a:p>
            <a:pPr algn="l">
              <a:lnSpc>
                <a:spcPts val="3559"/>
              </a:lnSpc>
            </a:pPr>
            <a:r>
              <a:rPr lang="en-US" sz="2852">
                <a:solidFill>
                  <a:srgbClr val="F98AC7"/>
                </a:solidFill>
                <a:latin typeface="Lora"/>
                <a:ea typeface="Lora"/>
                <a:cs typeface="Lora"/>
                <a:sym typeface="Lora"/>
              </a:rPr>
              <a:t>Who We Serve</a:t>
            </a:r>
          </a:p>
        </p:txBody>
      </p:sp>
      <p:sp>
        <p:nvSpPr>
          <p:cNvPr id="12" name="TextBox 12"/>
          <p:cNvSpPr txBox="1"/>
          <p:nvPr/>
        </p:nvSpPr>
        <p:spPr>
          <a:xfrm>
            <a:off x="9537125" y="4483979"/>
            <a:ext cx="7693390" cy="2313699"/>
          </a:xfrm>
          <a:prstGeom prst="rect">
            <a:avLst/>
          </a:prstGeom>
        </p:spPr>
        <p:txBody>
          <a:bodyPr lIns="0" tIns="0" rIns="0" bIns="0" rtlCol="0" anchor="t">
            <a:spAutoFit/>
          </a:bodyPr>
          <a:lstStyle/>
          <a:p>
            <a:pPr marL="435018" lvl="1" indent="-217509" algn="l">
              <a:lnSpc>
                <a:spcPts val="3833"/>
              </a:lnSpc>
              <a:buFont typeface="Arial"/>
              <a:buChar char="•"/>
            </a:pPr>
            <a:r>
              <a:rPr lang="en-US" sz="2401">
                <a:solidFill>
                  <a:srgbClr val="D6E5EF"/>
                </a:solidFill>
                <a:latin typeface="Source Sans 3"/>
                <a:ea typeface="Source Sans 3"/>
                <a:cs typeface="Source Sans 3"/>
                <a:sym typeface="Source Sans 3"/>
              </a:rPr>
              <a:t>Low-income families</a:t>
            </a:r>
          </a:p>
          <a:p>
            <a:pPr marL="435018" lvl="1" indent="-217509" algn="l">
              <a:lnSpc>
                <a:spcPts val="3833"/>
              </a:lnSpc>
              <a:buFont typeface="Arial"/>
              <a:buChar char="•"/>
            </a:pPr>
            <a:r>
              <a:rPr lang="en-US" sz="2401">
                <a:solidFill>
                  <a:srgbClr val="D6E5EF"/>
                </a:solidFill>
                <a:latin typeface="Source Sans 3"/>
                <a:ea typeface="Source Sans 3"/>
                <a:cs typeface="Source Sans 3"/>
                <a:sym typeface="Source Sans 3"/>
              </a:rPr>
              <a:t>Elderly individuals without support</a:t>
            </a:r>
          </a:p>
          <a:p>
            <a:pPr marL="435018" lvl="1" indent="-217509" algn="l">
              <a:lnSpc>
                <a:spcPts val="3833"/>
              </a:lnSpc>
              <a:buFont typeface="Arial"/>
              <a:buChar char="•"/>
            </a:pPr>
            <a:r>
              <a:rPr lang="en-US" sz="2401">
                <a:solidFill>
                  <a:srgbClr val="D6E5EF"/>
                </a:solidFill>
                <a:latin typeface="Source Sans 3"/>
                <a:ea typeface="Source Sans 3"/>
                <a:cs typeface="Source Sans 3"/>
                <a:sym typeface="Source Sans 3"/>
              </a:rPr>
              <a:t>Children from underprivileged backgrounds</a:t>
            </a:r>
          </a:p>
          <a:p>
            <a:pPr marL="435018" lvl="1" indent="-217509" algn="l">
              <a:lnSpc>
                <a:spcPts val="3833"/>
              </a:lnSpc>
              <a:buFont typeface="Arial"/>
              <a:buChar char="•"/>
            </a:pPr>
            <a:r>
              <a:rPr lang="en-US" sz="2401">
                <a:solidFill>
                  <a:srgbClr val="D6E5EF"/>
                </a:solidFill>
                <a:latin typeface="Source Sans 3"/>
                <a:ea typeface="Source Sans 3"/>
                <a:cs typeface="Source Sans 3"/>
                <a:sym typeface="Source Sans 3"/>
              </a:rPr>
              <a:t>Homeless and displaced persons</a:t>
            </a:r>
          </a:p>
        </p:txBody>
      </p:sp>
      <p:sp>
        <p:nvSpPr>
          <p:cNvPr id="13" name="TextBox 13"/>
          <p:cNvSpPr txBox="1"/>
          <p:nvPr/>
        </p:nvSpPr>
        <p:spPr>
          <a:xfrm>
            <a:off x="1080859" y="7157752"/>
            <a:ext cx="16140112" cy="108365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Through its food distribution program, Shri Ram Darbar Trust works to address hunger and malnutrition in the Muzaffarnagar region, providing regular meals and food supplies to those who struggle to meet their daily nutritional needs.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2699642"/>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Animal Care &amp; Dairy Farm</a:t>
            </a:r>
          </a:p>
        </p:txBody>
      </p:sp>
      <p:sp>
        <p:nvSpPr>
          <p:cNvPr id="7" name="TextBox 7"/>
          <p:cNvSpPr txBox="1"/>
          <p:nvPr/>
        </p:nvSpPr>
        <p:spPr>
          <a:xfrm>
            <a:off x="1080859" y="4158901"/>
            <a:ext cx="16140112" cy="3407778"/>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also extends its compassion beyond human welfare to include the care of animals. The Trust operates a dairy farm that serves a dual purpose — it supports the Trust's food distribution efforts by providing fresh milk and dairy products, and it offers a safe, nurturing environment for the animals in its care.</a:t>
            </a:r>
          </a:p>
          <a:p>
            <a:pPr algn="l">
              <a:lnSpc>
                <a:spcPts val="3833"/>
              </a:lnSpc>
            </a:pPr>
            <a:r>
              <a:rPr lang="en-US" sz="2401">
                <a:solidFill>
                  <a:srgbClr val="D6E5EF"/>
                </a:solidFill>
                <a:latin typeface="Source Sans 3"/>
                <a:ea typeface="Source Sans 3"/>
                <a:cs typeface="Source Sans 3"/>
                <a:sym typeface="Source Sans 3"/>
              </a:rPr>
              <a:t>The dairy farm is managed with care and attention, ensuring that the animals are healthy, well-fed, and treated with kindness. This initiative reflects the Trust's holistic approach to community welfare, recognizing that the well-being of animals is closely tied to the well-being of the people who depend on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2032968"/>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Research Internship Overview</a:t>
            </a:r>
          </a:p>
        </p:txBody>
      </p:sp>
      <p:sp>
        <p:nvSpPr>
          <p:cNvPr id="7" name="TextBox 7"/>
          <p:cNvSpPr txBox="1"/>
          <p:nvPr/>
        </p:nvSpPr>
        <p:spPr>
          <a:xfrm>
            <a:off x="1080859" y="3492227"/>
            <a:ext cx="16140112"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During the internship period from </a:t>
            </a:r>
            <a:r>
              <a:rPr lang="en-US" sz="2401" b="1">
                <a:solidFill>
                  <a:srgbClr val="D6E5EF"/>
                </a:solidFill>
                <a:latin typeface="Source Sans 3 Bold"/>
                <a:ea typeface="Source Sans 3 Bold"/>
                <a:cs typeface="Source Sans 3 Bold"/>
                <a:sym typeface="Source Sans 3 Bold"/>
              </a:rPr>
              <a:t>June 4, 2026 to July 5, 2026</a:t>
            </a:r>
            <a:r>
              <a:rPr lang="en-US" sz="2401">
                <a:solidFill>
                  <a:srgbClr val="D6E5EF"/>
                </a:solidFill>
                <a:latin typeface="Source Sans 3"/>
                <a:ea typeface="Source Sans 3"/>
                <a:cs typeface="Source Sans 3"/>
                <a:sym typeface="Source Sans 3"/>
              </a:rPr>
              <a:t>, the role of Research Intern at Shri Ram Darbar Trust involved observing, documenting, and understanding the various programs and operations of the Trust. As a researcher, the intern engaged with the Trust's activities by telling them and seeing all the stuff — gaining firsthand experience of how a grassroots NGO functions on a day-to-day basis.</a:t>
            </a:r>
          </a:p>
        </p:txBody>
      </p:sp>
      <p:grpSp>
        <p:nvGrpSpPr>
          <p:cNvPr id="8" name="Group 8"/>
          <p:cNvGrpSpPr/>
          <p:nvPr/>
        </p:nvGrpSpPr>
        <p:grpSpPr>
          <a:xfrm>
            <a:off x="1061799" y="5892546"/>
            <a:ext cx="5212328" cy="2359876"/>
            <a:chOff x="0" y="0"/>
            <a:chExt cx="6949770" cy="3146501"/>
          </a:xfrm>
        </p:grpSpPr>
        <p:sp>
          <p:nvSpPr>
            <p:cNvPr id="9" name="Freeform 9"/>
            <p:cNvSpPr/>
            <p:nvPr/>
          </p:nvSpPr>
          <p:spPr>
            <a:xfrm>
              <a:off x="0" y="0"/>
              <a:ext cx="6949694" cy="3146425"/>
            </a:xfrm>
            <a:custGeom>
              <a:avLst/>
              <a:gdLst/>
              <a:ahLst/>
              <a:cxnLst/>
              <a:rect l="l" t="t" r="r" b="b"/>
              <a:pathLst>
                <a:path w="6949694" h="3146425">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id="10" name="TextBox 10"/>
          <p:cNvSpPr txBox="1"/>
          <p:nvPr/>
        </p:nvSpPr>
        <p:spPr>
          <a:xfrm>
            <a:off x="1427750" y="6239446"/>
            <a:ext cx="4480436"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Duration</a:t>
            </a:r>
          </a:p>
        </p:txBody>
      </p:sp>
      <p:sp>
        <p:nvSpPr>
          <p:cNvPr id="11" name="TextBox 11"/>
          <p:cNvSpPr txBox="1"/>
          <p:nvPr/>
        </p:nvSpPr>
        <p:spPr>
          <a:xfrm>
            <a:off x="1427750" y="6802812"/>
            <a:ext cx="4480436" cy="589445"/>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June 4, 2026 – July 5, 2026</a:t>
            </a:r>
          </a:p>
        </p:txBody>
      </p:sp>
      <p:grpSp>
        <p:nvGrpSpPr>
          <p:cNvPr id="12" name="Group 12"/>
          <p:cNvGrpSpPr/>
          <p:nvPr/>
        </p:nvGrpSpPr>
        <p:grpSpPr>
          <a:xfrm>
            <a:off x="6544751" y="5892546"/>
            <a:ext cx="5212328" cy="2359876"/>
            <a:chOff x="0" y="0"/>
            <a:chExt cx="6949770" cy="3146501"/>
          </a:xfrm>
        </p:grpSpPr>
        <p:sp>
          <p:nvSpPr>
            <p:cNvPr id="13" name="Freeform 13"/>
            <p:cNvSpPr/>
            <p:nvPr/>
          </p:nvSpPr>
          <p:spPr>
            <a:xfrm>
              <a:off x="0" y="0"/>
              <a:ext cx="6949694" cy="3146425"/>
            </a:xfrm>
            <a:custGeom>
              <a:avLst/>
              <a:gdLst/>
              <a:ahLst/>
              <a:cxnLst/>
              <a:rect l="l" t="t" r="r" b="b"/>
              <a:pathLst>
                <a:path w="6949694" h="3146425">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id="14" name="TextBox 14"/>
          <p:cNvSpPr txBox="1"/>
          <p:nvPr/>
        </p:nvSpPr>
        <p:spPr>
          <a:xfrm>
            <a:off x="6910702" y="6239446"/>
            <a:ext cx="4480436"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Role</a:t>
            </a:r>
          </a:p>
        </p:txBody>
      </p:sp>
      <p:sp>
        <p:nvSpPr>
          <p:cNvPr id="15" name="TextBox 15"/>
          <p:cNvSpPr txBox="1"/>
          <p:nvPr/>
        </p:nvSpPr>
        <p:spPr>
          <a:xfrm>
            <a:off x="6910702" y="6802812"/>
            <a:ext cx="4480436" cy="589445"/>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Research Intern</a:t>
            </a:r>
          </a:p>
        </p:txBody>
      </p:sp>
      <p:grpSp>
        <p:nvGrpSpPr>
          <p:cNvPr id="16" name="Group 16"/>
          <p:cNvGrpSpPr/>
          <p:nvPr/>
        </p:nvGrpSpPr>
        <p:grpSpPr>
          <a:xfrm>
            <a:off x="12027713" y="5892546"/>
            <a:ext cx="5212328" cy="2359876"/>
            <a:chOff x="0" y="0"/>
            <a:chExt cx="6949770" cy="3146501"/>
          </a:xfrm>
        </p:grpSpPr>
        <p:sp>
          <p:nvSpPr>
            <p:cNvPr id="17" name="Freeform 17"/>
            <p:cNvSpPr/>
            <p:nvPr/>
          </p:nvSpPr>
          <p:spPr>
            <a:xfrm>
              <a:off x="0" y="0"/>
              <a:ext cx="6949694" cy="3146425"/>
            </a:xfrm>
            <a:custGeom>
              <a:avLst/>
              <a:gdLst/>
              <a:ahLst/>
              <a:cxnLst/>
              <a:rect l="l" t="t" r="r" b="b"/>
              <a:pathLst>
                <a:path w="6949694" h="3146425">
                  <a:moveTo>
                    <a:pt x="0" y="62738"/>
                  </a:moveTo>
                  <a:cubicBezTo>
                    <a:pt x="0" y="28067"/>
                    <a:pt x="28067" y="0"/>
                    <a:pt x="62738" y="0"/>
                  </a:cubicBezTo>
                  <a:lnTo>
                    <a:pt x="6886956" y="0"/>
                  </a:lnTo>
                  <a:cubicBezTo>
                    <a:pt x="6921627" y="0"/>
                    <a:pt x="6949694" y="28067"/>
                    <a:pt x="6949694" y="62738"/>
                  </a:cubicBezTo>
                  <a:lnTo>
                    <a:pt x="6949694" y="3083687"/>
                  </a:lnTo>
                  <a:cubicBezTo>
                    <a:pt x="6949694" y="3118358"/>
                    <a:pt x="6921627" y="3146425"/>
                    <a:pt x="6886956" y="3146425"/>
                  </a:cubicBezTo>
                  <a:lnTo>
                    <a:pt x="62738" y="3146425"/>
                  </a:lnTo>
                  <a:cubicBezTo>
                    <a:pt x="28067" y="3146425"/>
                    <a:pt x="0" y="3118358"/>
                    <a:pt x="0" y="3083687"/>
                  </a:cubicBezTo>
                  <a:close/>
                </a:path>
              </a:pathLst>
            </a:custGeom>
            <a:solidFill>
              <a:srgbClr val="252833"/>
            </a:solidFill>
            <a:ln w="38128" cap="sq">
              <a:solidFill>
                <a:srgbClr val="5D606B"/>
              </a:solidFill>
              <a:prstDash val="solid"/>
              <a:miter/>
            </a:ln>
          </p:spPr>
        </p:sp>
      </p:grpSp>
      <p:sp>
        <p:nvSpPr>
          <p:cNvPr id="18" name="TextBox 18"/>
          <p:cNvSpPr txBox="1"/>
          <p:nvPr/>
        </p:nvSpPr>
        <p:spPr>
          <a:xfrm>
            <a:off x="12393663" y="6239446"/>
            <a:ext cx="4480436"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Organization</a:t>
            </a:r>
          </a:p>
        </p:txBody>
      </p:sp>
      <p:sp>
        <p:nvSpPr>
          <p:cNvPr id="19" name="TextBox 19"/>
          <p:cNvSpPr txBox="1"/>
          <p:nvPr/>
        </p:nvSpPr>
        <p:spPr>
          <a:xfrm>
            <a:off x="12393663" y="6802812"/>
            <a:ext cx="4480436" cy="108365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Muzaffarnagar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1905619"/>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Research Activities &amp; Observations</a:t>
            </a:r>
          </a:p>
        </p:txBody>
      </p:sp>
      <p:sp>
        <p:nvSpPr>
          <p:cNvPr id="7" name="TextBox 7"/>
          <p:cNvSpPr txBox="1"/>
          <p:nvPr/>
        </p:nvSpPr>
        <p:spPr>
          <a:xfrm>
            <a:off x="1080859" y="3364878"/>
            <a:ext cx="16140112" cy="1577845"/>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As a Research Intern, the work involved closely observing and documenting the Trust's operations across its various programs. This included visiting the dairy farm, witnessing food and clothing distribution drives, and understanding how the Trust manages its resources and volunteers to serve the community effectively.</a:t>
            </a:r>
          </a:p>
        </p:txBody>
      </p:sp>
      <p:sp>
        <p:nvSpPr>
          <p:cNvPr id="8" name="Freeform 8" descr="preencoded.png"/>
          <p:cNvSpPr/>
          <p:nvPr/>
        </p:nvSpPr>
        <p:spPr>
          <a:xfrm>
            <a:off x="1196588" y="5299672"/>
            <a:ext cx="463210" cy="463220"/>
          </a:xfrm>
          <a:custGeom>
            <a:avLst/>
            <a:gdLst/>
            <a:ahLst/>
            <a:cxnLst/>
            <a:rect l="l" t="t" r="r" b="b"/>
            <a:pathLst>
              <a:path w="463210" h="463220">
                <a:moveTo>
                  <a:pt x="0" y="0"/>
                </a:moveTo>
                <a:lnTo>
                  <a:pt x="463210" y="0"/>
                </a:lnTo>
                <a:lnTo>
                  <a:pt x="463210" y="463220"/>
                </a:lnTo>
                <a:lnTo>
                  <a:pt x="0" y="463220"/>
                </a:lnTo>
                <a:lnTo>
                  <a:pt x="0" y="0"/>
                </a:lnTo>
                <a:close/>
              </a:path>
            </a:pathLst>
          </a:custGeom>
          <a:blipFill>
            <a:blip>
              <a:extLst>
                <a:ext uri="{96DAC541-7B7A-43D3-8B79-37D633B846F1}">
                  <asvg:svgBlip xmlns:asvg="http://schemas.microsoft.com/office/drawing/2016/SVG/main" r:embed="rId2"/>
                </a:ext>
              </a:extLst>
            </a:blip>
            <a:stretch>
              <a:fillRect l="-8163" r="-8165"/>
            </a:stretch>
          </a:blipFill>
        </p:spPr>
      </p:sp>
      <p:sp>
        <p:nvSpPr>
          <p:cNvPr id="9" name="TextBox 9"/>
          <p:cNvSpPr txBox="1"/>
          <p:nvPr/>
        </p:nvSpPr>
        <p:spPr>
          <a:xfrm>
            <a:off x="2084422" y="5271011"/>
            <a:ext cx="4119105"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Observing Programs</a:t>
            </a:r>
          </a:p>
        </p:txBody>
      </p:sp>
      <p:sp>
        <p:nvSpPr>
          <p:cNvPr id="10" name="TextBox 10"/>
          <p:cNvSpPr txBox="1"/>
          <p:nvPr/>
        </p:nvSpPr>
        <p:spPr>
          <a:xfrm>
            <a:off x="2084422" y="5834377"/>
            <a:ext cx="4119105"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Watching and learning about the food distribution, clothing drives, and animal care activities firsthand.</a:t>
            </a:r>
          </a:p>
        </p:txBody>
      </p:sp>
      <p:sp>
        <p:nvSpPr>
          <p:cNvPr id="11" name="Freeform 11" descr="preencoded.png"/>
          <p:cNvSpPr/>
          <p:nvPr/>
        </p:nvSpPr>
        <p:spPr>
          <a:xfrm>
            <a:off x="6705314" y="5299672"/>
            <a:ext cx="463210" cy="463220"/>
          </a:xfrm>
          <a:custGeom>
            <a:avLst/>
            <a:gdLst/>
            <a:ahLst/>
            <a:cxnLst/>
            <a:rect l="l" t="t" r="r" b="b"/>
            <a:pathLst>
              <a:path w="463210" h="463220">
                <a:moveTo>
                  <a:pt x="0" y="0"/>
                </a:moveTo>
                <a:lnTo>
                  <a:pt x="463211" y="0"/>
                </a:lnTo>
                <a:lnTo>
                  <a:pt x="463211" y="463220"/>
                </a:lnTo>
                <a:lnTo>
                  <a:pt x="0" y="463220"/>
                </a:lnTo>
                <a:lnTo>
                  <a:pt x="0" y="0"/>
                </a:lnTo>
                <a:close/>
              </a:path>
            </a:pathLst>
          </a:custGeom>
          <a:blipFill>
            <a:blip>
              <a:extLst>
                <a:ext uri="{96DAC541-7B7A-43D3-8B79-37D633B846F1}">
                  <asvg:svgBlip xmlns:asvg="http://schemas.microsoft.com/office/drawing/2016/SVG/main" r:embed="rId2"/>
                </a:ext>
              </a:extLst>
            </a:blip>
            <a:stretch>
              <a:fillRect l="-8163" r="-8165"/>
            </a:stretch>
          </a:blipFill>
        </p:spPr>
      </p:sp>
      <p:sp>
        <p:nvSpPr>
          <p:cNvPr id="12" name="TextBox 12"/>
          <p:cNvSpPr txBox="1"/>
          <p:nvPr/>
        </p:nvSpPr>
        <p:spPr>
          <a:xfrm>
            <a:off x="7593149" y="5271011"/>
            <a:ext cx="4119105" cy="927611"/>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Documenting Operations</a:t>
            </a:r>
          </a:p>
        </p:txBody>
      </p:sp>
      <p:sp>
        <p:nvSpPr>
          <p:cNvPr id="13" name="TextBox 13"/>
          <p:cNvSpPr txBox="1"/>
          <p:nvPr/>
        </p:nvSpPr>
        <p:spPr>
          <a:xfrm>
            <a:off x="7593149" y="6288662"/>
            <a:ext cx="4119105"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Recording how the Trust manages its dairy farm, volunteer coordination, and resource allocation.</a:t>
            </a:r>
          </a:p>
        </p:txBody>
      </p:sp>
      <p:sp>
        <p:nvSpPr>
          <p:cNvPr id="14" name="Freeform 14" descr="preencoded.png"/>
          <p:cNvSpPr/>
          <p:nvPr/>
        </p:nvSpPr>
        <p:spPr>
          <a:xfrm>
            <a:off x="12214031" y="5299672"/>
            <a:ext cx="463210" cy="463220"/>
          </a:xfrm>
          <a:custGeom>
            <a:avLst/>
            <a:gdLst/>
            <a:ahLst/>
            <a:cxnLst/>
            <a:rect l="l" t="t" r="r" b="b"/>
            <a:pathLst>
              <a:path w="463210" h="463220">
                <a:moveTo>
                  <a:pt x="0" y="0"/>
                </a:moveTo>
                <a:lnTo>
                  <a:pt x="463211" y="0"/>
                </a:lnTo>
                <a:lnTo>
                  <a:pt x="463211" y="463220"/>
                </a:lnTo>
                <a:lnTo>
                  <a:pt x="0" y="463220"/>
                </a:lnTo>
                <a:lnTo>
                  <a:pt x="0" y="0"/>
                </a:lnTo>
                <a:close/>
              </a:path>
            </a:pathLst>
          </a:custGeom>
          <a:blipFill>
            <a:blip>
              <a:extLst>
                <a:ext uri="{96DAC541-7B7A-43D3-8B79-37D633B846F1}">
                  <asvg:svgBlip xmlns:asvg="http://schemas.microsoft.com/office/drawing/2016/SVG/main" r:embed="rId2"/>
                </a:ext>
              </a:extLst>
            </a:blip>
            <a:stretch>
              <a:fillRect l="-8163" r="-8165"/>
            </a:stretch>
          </a:blipFill>
        </p:spPr>
      </p:sp>
      <p:sp>
        <p:nvSpPr>
          <p:cNvPr id="15" name="TextBox 15"/>
          <p:cNvSpPr txBox="1"/>
          <p:nvPr/>
        </p:nvSpPr>
        <p:spPr>
          <a:xfrm>
            <a:off x="13101876" y="5271011"/>
            <a:ext cx="4119105" cy="927611"/>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Community Engagement</a:t>
            </a:r>
          </a:p>
        </p:txBody>
      </p:sp>
      <p:sp>
        <p:nvSpPr>
          <p:cNvPr id="16" name="TextBox 16"/>
          <p:cNvSpPr txBox="1"/>
          <p:nvPr/>
        </p:nvSpPr>
        <p:spPr>
          <a:xfrm>
            <a:off x="13101876" y="6288662"/>
            <a:ext cx="4119105"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Interacting with beneficiaries and volunteers to understand the real-world impact of the Trust's 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2468632"/>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Impact of the Trust's Work</a:t>
            </a:r>
          </a:p>
        </p:txBody>
      </p:sp>
      <p:sp>
        <p:nvSpPr>
          <p:cNvPr id="7" name="Freeform 7" descr="preencoded.png"/>
          <p:cNvSpPr/>
          <p:nvPr/>
        </p:nvSpPr>
        <p:spPr>
          <a:xfrm>
            <a:off x="1080859" y="4023141"/>
            <a:ext cx="772106" cy="772125"/>
          </a:xfrm>
          <a:custGeom>
            <a:avLst/>
            <a:gdLst/>
            <a:ahLst/>
            <a:cxnLst/>
            <a:rect l="l" t="t" r="r" b="b"/>
            <a:pathLst>
              <a:path w="772106" h="772125">
                <a:moveTo>
                  <a:pt x="0" y="0"/>
                </a:moveTo>
                <a:lnTo>
                  <a:pt x="772106" y="0"/>
                </a:lnTo>
                <a:lnTo>
                  <a:pt x="772106" y="772125"/>
                </a:lnTo>
                <a:lnTo>
                  <a:pt x="0" y="772125"/>
                </a:lnTo>
                <a:lnTo>
                  <a:pt x="0" y="0"/>
                </a:lnTo>
                <a:close/>
              </a:path>
            </a:pathLst>
          </a:custGeom>
          <a:blipFill>
            <a:blip>
              <a:extLst>
                <a:ext uri="{96DAC541-7B7A-43D3-8B79-37D633B846F1}">
                  <asvg:svgBlip xmlns:asvg="http://schemas.microsoft.com/office/drawing/2016/SVG/main" r:embed="rId2"/>
                </a:ext>
              </a:extLst>
            </a:blip>
            <a:stretch>
              <a:fillRect l="-4269" r="-4269"/>
            </a:stretch>
          </a:blipFill>
        </p:spPr>
      </p:sp>
      <p:sp>
        <p:nvSpPr>
          <p:cNvPr id="8" name="TextBox 8"/>
          <p:cNvSpPr txBox="1"/>
          <p:nvPr/>
        </p:nvSpPr>
        <p:spPr>
          <a:xfrm>
            <a:off x="1080859" y="5162283"/>
            <a:ext cx="5122669"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Clothes &amp; Blankets</a:t>
            </a:r>
          </a:p>
        </p:txBody>
      </p:sp>
      <p:sp>
        <p:nvSpPr>
          <p:cNvPr id="9" name="TextBox 9"/>
          <p:cNvSpPr txBox="1"/>
          <p:nvPr/>
        </p:nvSpPr>
        <p:spPr>
          <a:xfrm>
            <a:off x="1080859" y="5725649"/>
            <a:ext cx="5122669" cy="1577845"/>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Providing warm clothing and blankets to vulnerable families, especially during harsh winter months in Uttar Pradesh.</a:t>
            </a:r>
          </a:p>
        </p:txBody>
      </p:sp>
      <p:sp>
        <p:nvSpPr>
          <p:cNvPr id="10" name="Freeform 10" descr="preencoded.png"/>
          <p:cNvSpPr/>
          <p:nvPr/>
        </p:nvSpPr>
        <p:spPr>
          <a:xfrm>
            <a:off x="6589586" y="4023141"/>
            <a:ext cx="772106" cy="772125"/>
          </a:xfrm>
          <a:custGeom>
            <a:avLst/>
            <a:gdLst/>
            <a:ahLst/>
            <a:cxnLst/>
            <a:rect l="l" t="t" r="r" b="b"/>
            <a:pathLst>
              <a:path w="772106" h="772125">
                <a:moveTo>
                  <a:pt x="0" y="0"/>
                </a:moveTo>
                <a:lnTo>
                  <a:pt x="772106" y="0"/>
                </a:lnTo>
                <a:lnTo>
                  <a:pt x="772106" y="772125"/>
                </a:lnTo>
                <a:lnTo>
                  <a:pt x="0" y="772125"/>
                </a:lnTo>
                <a:lnTo>
                  <a:pt x="0" y="0"/>
                </a:lnTo>
                <a:close/>
              </a:path>
            </a:pathLst>
          </a:custGeom>
          <a:blipFill>
            <a:blip>
              <a:extLst>
                <a:ext uri="{96DAC541-7B7A-43D3-8B79-37D633B846F1}">
                  <asvg:svgBlip xmlns:asvg="http://schemas.microsoft.com/office/drawing/2016/SVG/main" r:embed="rId3"/>
                </a:ext>
              </a:extLst>
            </a:blip>
            <a:stretch>
              <a:fillRect t="-4267" b="-4267"/>
            </a:stretch>
          </a:blipFill>
        </p:spPr>
      </p:sp>
      <p:sp>
        <p:nvSpPr>
          <p:cNvPr id="11" name="TextBox 11"/>
          <p:cNvSpPr txBox="1"/>
          <p:nvPr/>
        </p:nvSpPr>
        <p:spPr>
          <a:xfrm>
            <a:off x="6589586" y="5162283"/>
            <a:ext cx="5122669"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Food Support</a:t>
            </a:r>
          </a:p>
        </p:txBody>
      </p:sp>
      <p:sp>
        <p:nvSpPr>
          <p:cNvPr id="12" name="TextBox 12"/>
          <p:cNvSpPr txBox="1"/>
          <p:nvPr/>
        </p:nvSpPr>
        <p:spPr>
          <a:xfrm>
            <a:off x="6589586" y="5725649"/>
            <a:ext cx="5122669"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Regular food distribution ensuring that no member of the community goes hungry, with a focus on nutritious meals.</a:t>
            </a:r>
          </a:p>
        </p:txBody>
      </p:sp>
      <p:sp>
        <p:nvSpPr>
          <p:cNvPr id="13" name="Freeform 13" descr="preencoded.png"/>
          <p:cNvSpPr/>
          <p:nvPr/>
        </p:nvSpPr>
        <p:spPr>
          <a:xfrm>
            <a:off x="12098312" y="4023141"/>
            <a:ext cx="772106" cy="772125"/>
          </a:xfrm>
          <a:custGeom>
            <a:avLst/>
            <a:gdLst/>
            <a:ahLst/>
            <a:cxnLst/>
            <a:rect l="l" t="t" r="r" b="b"/>
            <a:pathLst>
              <a:path w="772106" h="772125">
                <a:moveTo>
                  <a:pt x="0" y="0"/>
                </a:moveTo>
                <a:lnTo>
                  <a:pt x="772106" y="0"/>
                </a:lnTo>
                <a:lnTo>
                  <a:pt x="772106" y="772125"/>
                </a:lnTo>
                <a:lnTo>
                  <a:pt x="0" y="772125"/>
                </a:lnTo>
                <a:lnTo>
                  <a:pt x="0" y="0"/>
                </a:lnTo>
                <a:close/>
              </a:path>
            </a:pathLst>
          </a:custGeom>
          <a:blipFill>
            <a:blip>
              <a:extLst>
                <a:ext uri="{96DAC541-7B7A-43D3-8B79-37D633B846F1}">
                  <asvg:svgBlip xmlns:asvg="http://schemas.microsoft.com/office/drawing/2016/SVG/main" r:embed="rId4"/>
                </a:ext>
              </a:extLst>
            </a:blip>
            <a:stretch>
              <a:fillRect l="-13415" r="-13417"/>
            </a:stretch>
          </a:blipFill>
        </p:spPr>
      </p:sp>
      <p:sp>
        <p:nvSpPr>
          <p:cNvPr id="14" name="TextBox 14"/>
          <p:cNvSpPr txBox="1"/>
          <p:nvPr/>
        </p:nvSpPr>
        <p:spPr>
          <a:xfrm>
            <a:off x="12098312" y="5162283"/>
            <a:ext cx="5122669" cy="473326"/>
          </a:xfrm>
          <a:prstGeom prst="rect">
            <a:avLst/>
          </a:prstGeom>
        </p:spPr>
        <p:txBody>
          <a:bodyPr lIns="0" tIns="0" rIns="0" bIns="0" rtlCol="0" anchor="t">
            <a:spAutoFit/>
          </a:bodyPr>
          <a:lstStyle/>
          <a:p>
            <a:pPr algn="l">
              <a:lnSpc>
                <a:spcPts val="3559"/>
              </a:lnSpc>
            </a:pPr>
            <a:r>
              <a:rPr lang="en-US" sz="2852">
                <a:solidFill>
                  <a:srgbClr val="D6E5EF"/>
                </a:solidFill>
                <a:latin typeface="Lora"/>
                <a:ea typeface="Lora"/>
                <a:cs typeface="Lora"/>
                <a:sym typeface="Lora"/>
              </a:rPr>
              <a:t>Animal Welfare</a:t>
            </a:r>
          </a:p>
        </p:txBody>
      </p:sp>
      <p:sp>
        <p:nvSpPr>
          <p:cNvPr id="15" name="TextBox 15"/>
          <p:cNvSpPr txBox="1"/>
          <p:nvPr/>
        </p:nvSpPr>
        <p:spPr>
          <a:xfrm>
            <a:off x="12098312" y="5725649"/>
            <a:ext cx="5122669"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Caring for animals through a dedicated dairy farm that supports both the Trust's operations and the local community.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2769946"/>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Key Learnings from the Internship</a:t>
            </a:r>
          </a:p>
        </p:txBody>
      </p:sp>
      <p:sp>
        <p:nvSpPr>
          <p:cNvPr id="7" name="TextBox 7"/>
          <p:cNvSpPr txBox="1"/>
          <p:nvPr/>
        </p:nvSpPr>
        <p:spPr>
          <a:xfrm>
            <a:off x="1080859" y="4459710"/>
            <a:ext cx="7693390" cy="473326"/>
          </a:xfrm>
          <a:prstGeom prst="rect">
            <a:avLst/>
          </a:prstGeom>
        </p:spPr>
        <p:txBody>
          <a:bodyPr lIns="0" tIns="0" rIns="0" bIns="0" rtlCol="0" anchor="t">
            <a:spAutoFit/>
          </a:bodyPr>
          <a:lstStyle/>
          <a:p>
            <a:pPr algn="l">
              <a:lnSpc>
                <a:spcPts val="3559"/>
              </a:lnSpc>
            </a:pPr>
            <a:r>
              <a:rPr lang="en-US" sz="2852">
                <a:solidFill>
                  <a:srgbClr val="F98AC7"/>
                </a:solidFill>
                <a:latin typeface="Lora"/>
                <a:ea typeface="Lora"/>
                <a:cs typeface="Lora"/>
                <a:sym typeface="Lora"/>
              </a:rPr>
              <a:t>Understanding NGO Operations</a:t>
            </a:r>
          </a:p>
        </p:txBody>
      </p:sp>
      <p:sp>
        <p:nvSpPr>
          <p:cNvPr id="8" name="TextBox 8"/>
          <p:cNvSpPr txBox="1"/>
          <p:nvPr/>
        </p:nvSpPr>
        <p:spPr>
          <a:xfrm>
            <a:off x="1080859" y="5146548"/>
            <a:ext cx="7693390" cy="2072040"/>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The internship provided a deep understanding of how a grassroots NGO like Shri Ram Darbar Trust operates — from resource management and volunteer coordination to program delivery and community outreach.</a:t>
            </a:r>
          </a:p>
        </p:txBody>
      </p:sp>
      <p:grpSp>
        <p:nvGrpSpPr>
          <p:cNvPr id="9" name="Group 9"/>
          <p:cNvGrpSpPr/>
          <p:nvPr/>
        </p:nvGrpSpPr>
        <p:grpSpPr>
          <a:xfrm>
            <a:off x="9314755" y="4169997"/>
            <a:ext cx="8138122" cy="3326530"/>
            <a:chOff x="0" y="0"/>
            <a:chExt cx="10850829" cy="4435373"/>
          </a:xfrm>
        </p:grpSpPr>
        <p:sp>
          <p:nvSpPr>
            <p:cNvPr id="10" name="Freeform 10"/>
            <p:cNvSpPr/>
            <p:nvPr/>
          </p:nvSpPr>
          <p:spPr>
            <a:xfrm>
              <a:off x="0" y="0"/>
              <a:ext cx="10850753" cy="4435348"/>
            </a:xfrm>
            <a:custGeom>
              <a:avLst/>
              <a:gdLst/>
              <a:ahLst/>
              <a:cxnLst/>
              <a:rect l="l" t="t" r="r" b="b"/>
              <a:pathLst>
                <a:path w="10850753" h="4435348">
                  <a:moveTo>
                    <a:pt x="0" y="61722"/>
                  </a:moveTo>
                  <a:cubicBezTo>
                    <a:pt x="0" y="27686"/>
                    <a:pt x="27686" y="0"/>
                    <a:pt x="61722" y="0"/>
                  </a:cubicBezTo>
                  <a:lnTo>
                    <a:pt x="10789031" y="0"/>
                  </a:lnTo>
                  <a:cubicBezTo>
                    <a:pt x="10823194" y="0"/>
                    <a:pt x="10850753" y="27686"/>
                    <a:pt x="10850753" y="61722"/>
                  </a:cubicBezTo>
                  <a:lnTo>
                    <a:pt x="10850753" y="4373626"/>
                  </a:lnTo>
                  <a:cubicBezTo>
                    <a:pt x="10850753" y="4407789"/>
                    <a:pt x="10823067" y="4435348"/>
                    <a:pt x="10789031" y="4435348"/>
                  </a:cubicBezTo>
                  <a:lnTo>
                    <a:pt x="61722" y="4435348"/>
                  </a:lnTo>
                  <a:cubicBezTo>
                    <a:pt x="27559" y="4435348"/>
                    <a:pt x="0" y="4407662"/>
                    <a:pt x="0" y="4373626"/>
                  </a:cubicBezTo>
                  <a:close/>
                </a:path>
              </a:pathLst>
            </a:custGeom>
            <a:solidFill>
              <a:srgbClr val="F98AC7"/>
            </a:solidFill>
          </p:spPr>
        </p:sp>
      </p:grpSp>
      <p:sp>
        <p:nvSpPr>
          <p:cNvPr id="11" name="TextBox 11"/>
          <p:cNvSpPr txBox="1"/>
          <p:nvPr/>
        </p:nvSpPr>
        <p:spPr>
          <a:xfrm>
            <a:off x="9623508" y="4459710"/>
            <a:ext cx="7520616" cy="473326"/>
          </a:xfrm>
          <a:prstGeom prst="rect">
            <a:avLst/>
          </a:prstGeom>
        </p:spPr>
        <p:txBody>
          <a:bodyPr lIns="0" tIns="0" rIns="0" bIns="0" rtlCol="0" anchor="t">
            <a:spAutoFit/>
          </a:bodyPr>
          <a:lstStyle/>
          <a:p>
            <a:pPr algn="l">
              <a:lnSpc>
                <a:spcPts val="3559"/>
              </a:lnSpc>
            </a:pPr>
            <a:r>
              <a:rPr lang="en-US" sz="2852">
                <a:solidFill>
                  <a:srgbClr val="000000"/>
                </a:solidFill>
                <a:latin typeface="Lora"/>
                <a:ea typeface="Lora"/>
                <a:cs typeface="Lora"/>
                <a:sym typeface="Lora"/>
              </a:rPr>
              <a:t>Real-World Research Experience</a:t>
            </a:r>
          </a:p>
        </p:txBody>
      </p:sp>
      <p:sp>
        <p:nvSpPr>
          <p:cNvPr id="12" name="TextBox 12"/>
          <p:cNvSpPr txBox="1"/>
          <p:nvPr/>
        </p:nvSpPr>
        <p:spPr>
          <a:xfrm>
            <a:off x="9623508" y="5146548"/>
            <a:ext cx="7520616" cy="2072040"/>
          </a:xfrm>
          <a:prstGeom prst="rect">
            <a:avLst/>
          </a:prstGeom>
        </p:spPr>
        <p:txBody>
          <a:bodyPr lIns="0" tIns="0" rIns="0" bIns="0" rtlCol="0" anchor="t">
            <a:spAutoFit/>
          </a:bodyPr>
          <a:lstStyle/>
          <a:p>
            <a:pPr algn="l">
              <a:lnSpc>
                <a:spcPts val="3833"/>
              </a:lnSpc>
            </a:pPr>
            <a:r>
              <a:rPr lang="en-US" sz="2401">
                <a:solidFill>
                  <a:srgbClr val="000000"/>
                </a:solidFill>
                <a:latin typeface="Source Sans 3"/>
                <a:ea typeface="Source Sans 3"/>
                <a:cs typeface="Source Sans 3"/>
                <a:sym typeface="Source Sans 3"/>
              </a:rPr>
              <a:t>By telling them and seeing all the stuff, the Research Intern gained practical, on-the-ground experience that goes beyond textbook knowledge — observing the challenges and rewards of community service work firsthand.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181A24"/>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252833"/>
            </a:solidFill>
          </p:spPr>
        </p:sp>
      </p:grpSp>
      <p:sp>
        <p:nvSpPr>
          <p:cNvPr id="6" name="TextBox 6"/>
          <p:cNvSpPr txBox="1"/>
          <p:nvPr/>
        </p:nvSpPr>
        <p:spPr>
          <a:xfrm>
            <a:off x="1080859" y="1908448"/>
            <a:ext cx="16140112" cy="936841"/>
          </a:xfrm>
          <a:prstGeom prst="rect">
            <a:avLst/>
          </a:prstGeom>
        </p:spPr>
        <p:txBody>
          <a:bodyPr lIns="0" tIns="0" rIns="0" bIns="0" rtlCol="0" anchor="t">
            <a:spAutoFit/>
          </a:bodyPr>
          <a:lstStyle/>
          <a:p>
            <a:pPr algn="l">
              <a:lnSpc>
                <a:spcPts val="7119"/>
              </a:lnSpc>
            </a:pPr>
            <a:r>
              <a:rPr lang="en-US" sz="5704">
                <a:solidFill>
                  <a:srgbClr val="F98AC7"/>
                </a:solidFill>
                <a:latin typeface="Lora"/>
                <a:ea typeface="Lora"/>
                <a:cs typeface="Lora"/>
                <a:sym typeface="Lora"/>
              </a:rPr>
              <a:t>Conclusion</a:t>
            </a:r>
          </a:p>
        </p:txBody>
      </p:sp>
      <p:sp>
        <p:nvSpPr>
          <p:cNvPr id="7" name="TextBox 7"/>
          <p:cNvSpPr txBox="1"/>
          <p:nvPr/>
        </p:nvSpPr>
        <p:spPr>
          <a:xfrm>
            <a:off x="1080859" y="3367707"/>
            <a:ext cx="16140112" cy="2913574"/>
          </a:xfrm>
          <a:prstGeom prst="rect">
            <a:avLst/>
          </a:prstGeom>
        </p:spPr>
        <p:txBody>
          <a:bodyPr lIns="0" tIns="0" rIns="0" bIns="0" rtlCol="0" anchor="t">
            <a:spAutoFit/>
          </a:bodyPr>
          <a:lstStyle/>
          <a:p>
            <a:pPr algn="l">
              <a:lnSpc>
                <a:spcPts val="3833"/>
              </a:lnSpc>
            </a:pPr>
            <a:r>
              <a:rPr lang="en-US" sz="2401">
                <a:solidFill>
                  <a:srgbClr val="D6E5EF"/>
                </a:solidFill>
                <a:latin typeface="Source Sans 3"/>
                <a:ea typeface="Source Sans 3"/>
                <a:cs typeface="Source Sans 3"/>
                <a:sym typeface="Source Sans 3"/>
              </a:rPr>
              <a:t>Shri Ram Darbar Trust, Muzaffarnagar, stands as a beacon of hope and compassion in the community. Through its dedicated efforts in providing clothes, blankets, and food to those in need, and through its commitment to animal care via its dairy farm, the Trust demonstrates what it means to serve with heart and purpose.</a:t>
            </a:r>
          </a:p>
          <a:p>
            <a:pPr algn="l">
              <a:lnSpc>
                <a:spcPts val="3833"/>
              </a:lnSpc>
            </a:pPr>
            <a:r>
              <a:rPr lang="en-US" sz="2401">
                <a:solidFill>
                  <a:srgbClr val="D6E5EF"/>
                </a:solidFill>
                <a:latin typeface="Source Sans 3"/>
                <a:ea typeface="Source Sans 3"/>
                <a:cs typeface="Source Sans 3"/>
                <a:sym typeface="Source Sans 3"/>
              </a:rPr>
              <a:t>This internship offered a valuable opportunity to witness and document this meaningful work — contributing to a deeper understanding of grassroots social impact and the power of community-driven change.</a:t>
            </a:r>
          </a:p>
        </p:txBody>
      </p:sp>
      <p:grpSp>
        <p:nvGrpSpPr>
          <p:cNvPr id="8" name="Group 8"/>
          <p:cNvGrpSpPr/>
          <p:nvPr/>
        </p:nvGrpSpPr>
        <p:grpSpPr>
          <a:xfrm>
            <a:off x="1080859" y="6628628"/>
            <a:ext cx="16140112" cy="1729397"/>
            <a:chOff x="0" y="0"/>
            <a:chExt cx="21520150" cy="2305863"/>
          </a:xfrm>
        </p:grpSpPr>
        <p:sp>
          <p:nvSpPr>
            <p:cNvPr id="9" name="Freeform 9"/>
            <p:cNvSpPr/>
            <p:nvPr/>
          </p:nvSpPr>
          <p:spPr>
            <a:xfrm>
              <a:off x="0" y="0"/>
              <a:ext cx="21520150" cy="2305812"/>
            </a:xfrm>
            <a:custGeom>
              <a:avLst/>
              <a:gdLst/>
              <a:ahLst/>
              <a:cxnLst/>
              <a:rect l="l" t="t" r="r" b="b"/>
              <a:pathLst>
                <a:path w="21520150" h="2305812">
                  <a:moveTo>
                    <a:pt x="0" y="61722"/>
                  </a:moveTo>
                  <a:cubicBezTo>
                    <a:pt x="0" y="27686"/>
                    <a:pt x="27686" y="0"/>
                    <a:pt x="61722" y="0"/>
                  </a:cubicBezTo>
                  <a:lnTo>
                    <a:pt x="21458428" y="0"/>
                  </a:lnTo>
                  <a:cubicBezTo>
                    <a:pt x="21492592" y="0"/>
                    <a:pt x="21520150" y="27686"/>
                    <a:pt x="21520150" y="61722"/>
                  </a:cubicBezTo>
                  <a:lnTo>
                    <a:pt x="21520150" y="2244090"/>
                  </a:lnTo>
                  <a:cubicBezTo>
                    <a:pt x="21520150" y="2278253"/>
                    <a:pt x="21492465" y="2305812"/>
                    <a:pt x="21458428" y="2305812"/>
                  </a:cubicBezTo>
                  <a:lnTo>
                    <a:pt x="61722" y="2305812"/>
                  </a:lnTo>
                  <a:cubicBezTo>
                    <a:pt x="27559" y="2305812"/>
                    <a:pt x="0" y="2278126"/>
                    <a:pt x="0" y="2244090"/>
                  </a:cubicBezTo>
                  <a:close/>
                </a:path>
              </a:pathLst>
            </a:custGeom>
            <a:solidFill>
              <a:srgbClr val="790645"/>
            </a:solidFill>
          </p:spPr>
        </p:sp>
      </p:grpSp>
      <p:grpSp>
        <p:nvGrpSpPr>
          <p:cNvPr id="10" name="Group 10"/>
          <p:cNvGrpSpPr/>
          <p:nvPr/>
        </p:nvGrpSpPr>
        <p:grpSpPr>
          <a:xfrm>
            <a:off x="1389621" y="7068455"/>
            <a:ext cx="386058" cy="308762"/>
            <a:chOff x="0" y="0"/>
            <a:chExt cx="514744" cy="411683"/>
          </a:xfrm>
        </p:grpSpPr>
        <p:sp>
          <p:nvSpPr>
            <p:cNvPr id="11" name="Freeform 11" descr="preencoded.png"/>
            <p:cNvSpPr/>
            <p:nvPr/>
          </p:nvSpPr>
          <p:spPr>
            <a:xfrm>
              <a:off x="0" y="0"/>
              <a:ext cx="514731" cy="411734"/>
            </a:xfrm>
            <a:custGeom>
              <a:avLst/>
              <a:gdLst/>
              <a:ahLst/>
              <a:cxnLst/>
              <a:rect l="l" t="t" r="r" b="b"/>
              <a:pathLst>
                <a:path w="514731" h="411734">
                  <a:moveTo>
                    <a:pt x="0" y="0"/>
                  </a:moveTo>
                  <a:lnTo>
                    <a:pt x="514731" y="0"/>
                  </a:lnTo>
                  <a:lnTo>
                    <a:pt x="514731" y="411734"/>
                  </a:lnTo>
                  <a:lnTo>
                    <a:pt x="0" y="411734"/>
                  </a:lnTo>
                  <a:lnTo>
                    <a:pt x="0" y="0"/>
                  </a:lnTo>
                  <a:close/>
                </a:path>
              </a:pathLst>
            </a:custGeom>
            <a:blipFill>
              <a:blip r:embed="rId2"/>
              <a:stretch>
                <a:fillRect t="-317" r="-2" b="-305"/>
              </a:stretch>
            </a:blipFill>
          </p:spPr>
        </p:sp>
      </p:grpSp>
      <p:sp>
        <p:nvSpPr>
          <p:cNvPr id="12" name="TextBox 12"/>
          <p:cNvSpPr txBox="1"/>
          <p:nvPr/>
        </p:nvSpPr>
        <p:spPr>
          <a:xfrm>
            <a:off x="2084422" y="6919293"/>
            <a:ext cx="14827796" cy="1083650"/>
          </a:xfrm>
          <a:prstGeom prst="rect">
            <a:avLst/>
          </a:prstGeom>
        </p:spPr>
        <p:txBody>
          <a:bodyPr lIns="0" tIns="0" rIns="0" bIns="0" rtlCol="0" anchor="t">
            <a:spAutoFit/>
          </a:bodyPr>
          <a:lstStyle/>
          <a:p>
            <a:pPr algn="l">
              <a:lnSpc>
                <a:spcPts val="3833"/>
              </a:lnSpc>
            </a:pPr>
            <a:r>
              <a:rPr lang="en-US" sz="2401">
                <a:solidFill>
                  <a:srgbClr val="FFFFFF"/>
                </a:solidFill>
                <a:latin typeface="Source Sans 3"/>
                <a:ea typeface="Source Sans 3"/>
                <a:cs typeface="Source Sans 3"/>
                <a:sym typeface="Source Sans 3"/>
              </a:rPr>
              <a:t>This presentation was created as part of the Research Internship at Shri Ram Darbar Trust, Muzaffarnagar — June 4, 2026 to July 5, 2026.</a:t>
            </a:r>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45</TotalTime>
  <Words>901</Words>
  <Application>Microsoft Office PowerPoint</Application>
  <PresentationFormat>Custom</PresentationFormat>
  <Paragraphs>58</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 Nova Light</vt:lpstr>
      <vt:lpstr>Lora</vt:lpstr>
      <vt:lpstr>Arial</vt:lpstr>
      <vt:lpstr>Source Sans 3</vt:lpstr>
      <vt:lpstr>Lora Bold</vt:lpstr>
      <vt:lpstr>Aptos</vt:lpstr>
      <vt:lpstr>Source Sans 3 Bold</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shivesh sharma</cp:lastModifiedBy>
  <cp:revision>3</cp:revision>
  <dcterms:created xsi:type="dcterms:W3CDTF">2006-08-16T00:00:00Z</dcterms:created>
  <dcterms:modified xsi:type="dcterms:W3CDTF">2026-08-28T10:03:17Z</dcterms:modified>
  <dc:identifier>DAHTd8pD9O4</dc:identifier>
</cp:coreProperties>
</file>